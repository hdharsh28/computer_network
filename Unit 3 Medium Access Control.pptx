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9.xml" ContentType="application/vnd.openxmlformats-officedocument.presentationml.notesSlide+xml"/>
  <Override PartName="/ppt/ink/ink1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7.xml" ContentType="application/inkml+xml"/>
  <Override PartName="/ppt/notesSlides/notesSlide12.xml" ContentType="application/vnd.openxmlformats-officedocument.presentationml.notesSlide+xml"/>
  <Override PartName="/ppt/ink/ink18.xml" ContentType="application/inkml+xml"/>
  <Override PartName="/ppt/notesSlides/notesSlide13.xml" ContentType="application/vnd.openxmlformats-officedocument.presentationml.notesSlide+xml"/>
  <Override PartName="/ppt/ink/ink19.xml" ContentType="application/inkml+xml"/>
  <Override PartName="/ppt/notesSlides/notesSlide14.xml" ContentType="application/vnd.openxmlformats-officedocument.presentationml.notesSlide+xml"/>
  <Override PartName="/ppt/ink/ink20.xml" ContentType="application/inkml+xml"/>
  <Override PartName="/ppt/ink/ink21.xml" ContentType="application/inkml+xml"/>
  <Override PartName="/ppt/notesSlides/notesSlide15.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51"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6858000" type="screen4x3"/>
  <p:notesSz cx="6858000" cy="9144000"/>
  <p:embeddedFontLst>
    <p:embeddedFont>
      <p:font typeface="Palatino Linotype" panose="02040502050505030304" pitchFamily="18" charset="0"/>
      <p:regular r:id="rId61"/>
      <p:bold r:id="rId62"/>
      <p:italic r:id="rId63"/>
      <p:boldItalic r:id="rId64"/>
    </p:embeddedFont>
    <p:embeddedFont>
      <p:font typeface="Trebuchet MS" panose="020B0603020202020204" pitchFamily="34" charset="0"/>
      <p:regular r:id="rId65"/>
      <p:bold r:id="rId66"/>
      <p:italic r:id="rId67"/>
      <p:boldItalic r:id="rId68"/>
    </p:embeddedFont>
    <p:embeddedFont>
      <p:font typeface="Wingdings 3" panose="05040102010807070707" pitchFamily="18" charset="2"/>
      <p:regular r:id="rId6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FBB062-3F04-4866-BE6B-687C23E532FA}">
  <a:tblStyle styleId="{13FBB062-3F04-4866-BE6B-687C23E532FA}" styleName="Table_0">
    <a:wholeTbl>
      <a:tcTxStyle b="off" i="off">
        <a:font>
          <a:latin typeface="Palatino Linotype"/>
          <a:ea typeface="Palatino Linotype"/>
          <a:cs typeface="Palatino Linotyp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BF2"/>
          </a:solidFill>
        </a:fill>
      </a:tcStyle>
    </a:wholeTbl>
    <a:band1H>
      <a:tcTxStyle/>
      <a:tcStyle>
        <a:tcBdr/>
        <a:fill>
          <a:solidFill>
            <a:srgbClr val="D1D5E5"/>
          </a:solidFill>
        </a:fill>
      </a:tcStyle>
    </a:band1H>
    <a:band2H>
      <a:tcTxStyle/>
      <a:tcStyle>
        <a:tcBdr/>
      </a:tcStyle>
    </a:band2H>
    <a:band1V>
      <a:tcTxStyle/>
      <a:tcStyle>
        <a:tcBdr/>
        <a:fill>
          <a:solidFill>
            <a:srgbClr val="D1D5E5"/>
          </a:solidFill>
        </a:fill>
      </a:tcStyle>
    </a:band1V>
    <a:band2V>
      <a:tcTxStyle/>
      <a:tcStyle>
        <a:tcBdr/>
      </a:tcStyle>
    </a:band2V>
    <a:lastCol>
      <a:tcTxStyle b="on" i="off">
        <a:font>
          <a:latin typeface="Palatino Linotype"/>
          <a:ea typeface="Palatino Linotype"/>
          <a:cs typeface="Palatino Linotype"/>
        </a:font>
        <a:schemeClr val="lt1"/>
      </a:tcTxStyle>
      <a:tcStyle>
        <a:tcBdr/>
        <a:fill>
          <a:solidFill>
            <a:schemeClr val="accent1"/>
          </a:solidFill>
        </a:fill>
      </a:tcStyle>
    </a:lastCol>
    <a:firstCol>
      <a:tcTxStyle b="on" i="off">
        <a:font>
          <a:latin typeface="Palatino Linotype"/>
          <a:ea typeface="Palatino Linotype"/>
          <a:cs typeface="Palatino Linotype"/>
        </a:font>
        <a:schemeClr val="lt1"/>
      </a:tcTxStyle>
      <a:tcStyle>
        <a:tcBdr/>
        <a:fill>
          <a:solidFill>
            <a:schemeClr val="accent1"/>
          </a:solidFill>
        </a:fill>
      </a:tcStyle>
    </a:firstCol>
    <a:lastRow>
      <a:tcTxStyle b="on" i="off">
        <a:font>
          <a:latin typeface="Palatino Linotype"/>
          <a:ea typeface="Palatino Linotype"/>
          <a:cs typeface="Palatino Linotyp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Palatino Linotype"/>
          <a:ea typeface="Palatino Linotype"/>
          <a:cs typeface="Palatino Linotyp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6" autoAdjust="0"/>
    <p:restoredTop sz="94660"/>
  </p:normalViewPr>
  <p:slideViewPr>
    <p:cSldViewPr snapToGrid="0">
      <p:cViewPr varScale="1">
        <p:scale>
          <a:sx n="84" d="100"/>
          <a:sy n="84" d="100"/>
        </p:scale>
        <p:origin x="1459"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02:05.966"/>
    </inkml:context>
    <inkml:brush xml:id="br0">
      <inkml:brushProperty name="width" value="0.05" units="cm"/>
      <inkml:brushProperty name="height" value="0.05" units="cm"/>
    </inkml:brush>
  </inkml:definitions>
  <inkml:trace contextRef="#ctx0" brushRef="#br0">1 13 704 0 0,'0'0'1112'0'0,"5"-12"-632"0"0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07:36.726"/>
    </inkml:context>
    <inkml:brush xml:id="br0">
      <inkml:brushProperty name="width" value="0.05" units="cm"/>
      <inkml:brushProperty name="height" value="0.05" units="cm"/>
    </inkml:brush>
  </inkml:definitions>
  <inkml:trace contextRef="#ctx0" brushRef="#br0">47 1 104 0 0,'0'0'172'0'0,"-25"6"32"0"0,3 4-72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24:27.621"/>
    </inkml:context>
    <inkml:brush xml:id="br0">
      <inkml:brushProperty name="width" value="0.05" units="cm"/>
      <inkml:brushProperty name="height" value="0.05" units="cm"/>
    </inkml:brush>
  </inkml:definitions>
  <inkml:trace contextRef="#ctx0" brushRef="#br0">1 1 224 0 0,'0'0'1167'0'0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24:36.390"/>
    </inkml:context>
    <inkml:brush xml:id="br0">
      <inkml:brushProperty name="width" value="0.05" units="cm"/>
      <inkml:brushProperty name="height" value="0.05" units="cm"/>
    </inkml:brush>
  </inkml:definitions>
  <inkml:trace contextRef="#ctx0" brushRef="#br0">54 1 4 0 0,'0'0'1819'0'0,"-5"0"-1744"0"0,-14 3 5 0 0,15-3 392 0 0,-1 1-446 0 0,-11 3-5 0 0,12-2 21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24:50.537"/>
    </inkml:context>
    <inkml:brush xml:id="br0">
      <inkml:brushProperty name="width" value="0.05" units="cm"/>
      <inkml:brushProperty name="height" value="0.05" units="cm"/>
    </inkml:brush>
  </inkml:definitions>
  <inkml:trace contextRef="#ctx0" brushRef="#br0">1 38 112 0 0,'0'0'1399'0'0,"2"-1"-1183"0"0,2-2 77 0 0,22-12 2268 0 0,-14 37-2213 0 0,-9-11-225 0 0,-1-1-1 0 0,0 1 1 0 0,1 14 0 0 0,6 26 100 0 0,-6-13-69 0 0,-3-33-131 0 0,0 0-1 0 0,0 0 0 0 0,0 0 1 0 0,1 0-1 0 0,0 0 1 0 0,0 0-1 0 0,0 0 1 0 0,4 8-1 0 0,-2 15 41 0 0,-3-11 38 0 0,-2-5 263 0 0,4-24-272 0 0,-2 8-76 0 0,0 0-19 0 0,0-157 48 0 0,0 157-3 0 0,0 0 18 0 0,0-13 12 0 0,0 12 12 0 0,0-20 329 0 0,-3-4 32 0 0,3 26-28 0 0,0-25 1112 0 0,-4 260-1526 0 0,5-216-13 0 0,-2 7 8 0 0,5 15 106 0 0,-4-35 51 0 0,0-7-167 0 0,7-147-121 0 0,-4 108 106 0 0,-3 40 8 0 0,0-20 23 0 0,1-2-36 0 0,1 20 66 0 0,0 7-25 0 0,3 15-24 0 0,-1 40 101 0 0,-4 54 225 0 0,-3-90 8 0 0,0-12-1271 0 0,2 0-3636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4:45.072"/>
    </inkml:context>
    <inkml:brush xml:id="br0">
      <inkml:brushProperty name="width" value="0.05" units="cm"/>
      <inkml:brushProperty name="height" value="0.05" units="cm"/>
    </inkml:brush>
  </inkml:definitions>
  <inkml:trace contextRef="#ctx0" brushRef="#br0">144 24 416 0 0,'0'0'445'0'0,"-5"14"4237"0"0,-4-28-4171 0 0,7 12-427 0 0,-1-4-35 0 0,-9-9 183 0 0,11 15-228 0 0,1 0 1 0 0,-1 0 0 0 0,0 0-1 0 0,0-1 1 0 0,1 1-1 0 0,-1 0 1 0 0,0 0-1 0 0,0 1 1 0 0,1-1 0 0 0,-1 0-1 0 0,0 0 1 0 0,1 0-1 0 0,-1 0 1 0 0,0 1-1 0 0,1-1 1 0 0,-1 0 0 0 0,0 1-1 0 0,1-1 1 0 0,-1 0-1 0 0,0 1 1 0 0,1-1-1 0 0,-1 1 1 0 0,1-1 0 0 0,-1 1-1 0 0,1-1 1 0 0,-1 1-1 0 0,1-1 1 0 0,-1 1-1 0 0,1 0 1 0 0,-1 0 0 0 0,-39 52 15 0 0,12-4 16 0 0,26-47-52 0 0,1 1 62 0 0,-6 10-41 0 0,5-10 82 0 0,1 0-13 0 0,-4 7 71 0 0,4-7 352 0 0,0 0-231 0 0,-3 6 928 0 0,8-18-791 0 0,-3 6-280 0 0,-1 0-116 0 0,0-10 13 0 0,0 10-10 0 0,3-10-577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5:44.687"/>
    </inkml:context>
    <inkml:brush xml:id="br0">
      <inkml:brushProperty name="width" value="0.05" units="cm"/>
      <inkml:brushProperty name="height" value="0.05" units="cm"/>
    </inkml:brush>
  </inkml:definitions>
  <inkml:trace contextRef="#ctx0" brushRef="#br0">1 0 92 0 0,'0'0'192'0'0,"25"7"-292"0"0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5:45.066"/>
    </inkml:context>
    <inkml:brush xml:id="br0">
      <inkml:brushProperty name="width" value="0.05" units="cm"/>
      <inkml:brushProperty name="height" value="0.05" units="cm"/>
    </inkml:brush>
  </inkml:definitions>
  <inkml:trace contextRef="#ctx0" brushRef="#br0">0 13 312 0 0,'0'0'1388'0'0,"18"-13"-2208"0"0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00.837"/>
    </inkml:context>
    <inkml:brush xml:id="br0">
      <inkml:brushProperty name="width" value="0.05" units="cm"/>
      <inkml:brushProperty name="height" value="0.05" units="cm"/>
    </inkml:brush>
  </inkml:definitions>
  <inkml:trace contextRef="#ctx0" brushRef="#br0">1 0 432 0 0,'0'0'3070'0'0,"13"15"339"0"0,-6-11-3138 0 0,10 6 1695 0 0,-8-7-5418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01.553"/>
    </inkml:context>
    <inkml:brush xml:id="br0">
      <inkml:brushProperty name="width" value="0.05" units="cm"/>
      <inkml:brushProperty name="height" value="0.05" units="cm"/>
    </inkml:brush>
  </inkml:definitions>
  <inkml:trace contextRef="#ctx0" brushRef="#br0">1 0 380 0 0,'0'0'2468'0'0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03.681"/>
    </inkml:context>
    <inkml:brush xml:id="br0">
      <inkml:brushProperty name="width" value="0.05" units="cm"/>
      <inkml:brushProperty name="height" value="0.05" units="cm"/>
    </inkml:brush>
  </inkml:definitions>
  <inkml:trace contextRef="#ctx0" brushRef="#br0">1 1 64 0 0,'0'0'1892'0'0,"21"3"-1752"0"0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04.534"/>
    </inkml:context>
    <inkml:brush xml:id="br0">
      <inkml:brushProperty name="width" value="0.05" units="cm"/>
      <inkml:brushProperty name="height" value="0.05" units="cm"/>
    </inkml:brush>
  </inkml:definitions>
  <inkml:trace contextRef="#ctx0" brushRef="#br0">0 17 328 0 0,'0'0'2316'0'0,"25"3"-2140"0"0,18-3-372 0 0,-1-7-380 0 0,-13 1-64 0 0,6 0 156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05.540"/>
    </inkml:context>
    <inkml:brush xml:id="br0">
      <inkml:brushProperty name="width" value="0.05" units="cm"/>
      <inkml:brushProperty name="height" value="0.05" units="cm"/>
    </inkml:brush>
  </inkml:definitions>
  <inkml:trace contextRef="#ctx0" brushRef="#br0">0 0 228 0 0,'0'0'2054'0'0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51.033"/>
    </inkml:context>
    <inkml:brush xml:id="br0">
      <inkml:brushProperty name="width" value="0.05" units="cm"/>
      <inkml:brushProperty name="height" value="0.05" units="cm"/>
    </inkml:brush>
  </inkml:definitions>
  <inkml:trace contextRef="#ctx0" brushRef="#br0">1 1 76 0 0,'0'0'1168'0'0,"10"13"252"0"0,5-26-2408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6:59.477"/>
    </inkml:context>
    <inkml:brush xml:id="br0">
      <inkml:brushProperty name="width" value="0.05" units="cm"/>
      <inkml:brushProperty name="height" value="0.05" units="cm"/>
    </inkml:brush>
  </inkml:definitions>
  <inkml:trace contextRef="#ctx0" brushRef="#br0">75 0 164 0 0,'0'0'3420'0'0,"-2"3"-3301"0"0,-1 0 166 0 0,-1 0 0 0 0,0 1-1 0 0,0-2 1 0 0,0 1 0 0 0,0 0 0 0 0,0-1 0 0 0,-1 0 0 0 0,1 0-1 0 0,-8 2 1 0 0,9-3-258 0 0,-1 0-25 0 0,-10 3-28 0 0,10-2 80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38:37.888"/>
    </inkml:context>
    <inkml:brush xml:id="br0">
      <inkml:brushProperty name="width" value="0.05" units="cm"/>
      <inkml:brushProperty name="height" value="0.05" units="cm"/>
    </inkml:brush>
  </inkml:definitions>
  <inkml:trace contextRef="#ctx0" brushRef="#br0">0 87 3028 0 0,'29'-13'4817'0'0,"-11"1"-809"0"0,-4 2-764 0 0,-3-3-243 0 0,-1-6-2137 0 0,1 0-1788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42:52.467"/>
    </inkml:context>
    <inkml:brush xml:id="br0">
      <inkml:brushProperty name="width" value="0.05" units="cm"/>
      <inkml:brushProperty name="height" value="0.05" units="cm"/>
    </inkml:brush>
  </inkml:definitions>
  <inkml:trace contextRef="#ctx0" brushRef="#br0">1 135 244 0 0,'0'0'6314'0'0,"4"-1"-6257"0"0,15-1 33 0 0,-14 1 282 0 0,-1 0-189 0 0,13-6-40 0 0,-13 6 45 0 0,0 0-39 0 0,105-45 1134 0 0,-71 27-1090 0 0,81-26-130 0 0,-115 44-235 0 0,-2 1-126 0 0,0-1 219 0 0,-1 1 0 0 0,1-1-1 0 0,0 1 1 0 0,0-1 0 0 0,0 0-1 0 0,-1 1 1 0 0,1-1 0 0 0,3-2-1 0 0,-1 1-522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45:53.297"/>
    </inkml:context>
    <inkml:brush xml:id="br0">
      <inkml:brushProperty name="width" value="0.05" units="cm"/>
      <inkml:brushProperty name="height" value="0.05" units="cm"/>
    </inkml:brush>
  </inkml:definitions>
  <inkml:trace contextRef="#ctx0" brushRef="#br0">77 180 104 0 0,'0'0'2088'0'0,"-2"-3"-1894"0"0,-5-8-34 0 0,5 9 497 0 0,2-2-532 0 0,-3-8-83 0 0,3 8 144 0 0,-5-15 139 0 0,-7-10 9 0 0,11 26-265 0 0,0 1-56 0 0,-1-3-13 0 0,0 0 24 0 0,0 1 0 0 0,-1-1 0 0 0,1 0 0 0 0,-1 1-1 0 0,0-1 1 0 0,0 1 0 0 0,-1 0 0 0 0,1 0 0 0 0,-6-5 0 0 0,7 8 114 0 0,1-2-120 0 0,0 1-191 0 0,0-1 0 0 0,0 1 0 0 0,1-1 0 0 0,0 1 0 0 0,-1-1 0 0 0,1 1 1 0 0,0-1-1 0 0,0 0 0 0 0,1-3 0 0 0,-1 2-311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46:31.303"/>
    </inkml:context>
    <inkml:brush xml:id="br0">
      <inkml:brushProperty name="width" value="0.05" units="cm"/>
      <inkml:brushProperty name="height" value="0.05" units="cm"/>
    </inkml:brush>
  </inkml:definitions>
  <inkml:trace contextRef="#ctx0" brushRef="#br0">18 122 208 0 0,'10'-29'2907'0'0,"-9"26"-2128"0"0,-2-1-389 0 0,-1-11 30 0 0,1 11-25 0 0,-5-34 1365 0 0,5 35-1438 0 0,-3-16 864 0 0,3 12-1130 0 0,-1 20 244 0 0,-5 387 217 0 0,3-222-3454 0 0,4-174 1961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47:52.083"/>
    </inkml:context>
    <inkml:brush xml:id="br0">
      <inkml:brushProperty name="width" value="0.05" units="cm"/>
      <inkml:brushProperty name="height" value="0.05" units="cm"/>
    </inkml:brush>
  </inkml:definitions>
  <inkml:trace contextRef="#ctx0" brushRef="#br0">85 0 904 0 0,'0'0'3660'0'0,"-5"1"-2492"0"0,-22 1 1979 0 0,23-1-2718 0 0,-15 1-109 0 0,14-1 943 0 0,1 0-1591 0 0,0 0-81 0 0,-5 3 648 0 0,1-4-6566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47:52.423"/>
    </inkml:context>
    <inkml:brush xml:id="br0">
      <inkml:brushProperty name="width" value="0.05" units="cm"/>
      <inkml:brushProperty name="height" value="0.05" units="cm"/>
    </inkml:brush>
  </inkml:definitions>
  <inkml:trace contextRef="#ctx0" brushRef="#br0">43 17 1220 0 0,'0'0'2624'0'0,"-24"-7"-1576"0"0,6-2-1316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51:28.065"/>
    </inkml:context>
    <inkml:brush xml:id="br0">
      <inkml:brushProperty name="width" value="0.05" units="cm"/>
      <inkml:brushProperty name="height" value="0.05" units="cm"/>
    </inkml:brush>
  </inkml:definitions>
  <inkml:trace contextRef="#ctx0" brushRef="#br0">0 0 180 0 0,'0'0'3050'0'0,"0"13"-2910"0"0,1-7 2639 0 0,2 7-5057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53:08.915"/>
    </inkml:context>
    <inkml:brush xml:id="br0">
      <inkml:brushProperty name="width" value="0.05" units="cm"/>
      <inkml:brushProperty name="height" value="0.05" units="cm"/>
    </inkml:brush>
  </inkml:definitions>
  <inkml:trace contextRef="#ctx0" brushRef="#br0">1 0 68 0 0,'4'2'667'0'0,"13"4"-39"0"0,-13-4 1147 0 0,34 16 1758 0 0,-36-15-3641 0 0,2 1 211 0 0,2 0-3010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8:58:25.318"/>
    </inkml:context>
    <inkml:brush xml:id="br0">
      <inkml:brushProperty name="width" value="0.05" units="cm"/>
      <inkml:brushProperty name="height" value="0.05" units="cm"/>
    </inkml:brush>
  </inkml:definitions>
  <inkml:trace contextRef="#ctx0" brushRef="#br0">1 52 320 0 0,'0'0'2642'0'0,"3"1"-2782"0"0,2-1 130 0 0,-4 0 11 0 0,-1 0-1 0 0,1 0 1 0 0,-1 0 0 0 0,1 0-1 0 0,-1 0 1 0 0,1 1-1 0 0,0-1 1 0 0,-1 0 0 0 0,1 0-1 0 0,-1 0 1 0 0,1 0-1 0 0,-1 1 1 0 0,0-1 0 0 0,1 0-1 0 0,-1 0 1 0 0,1 1-1 0 0,-1-1 1 0 0,1 0 0 0 0,-1 1-1 0 0,0-1 1 0 0,1 1-1 0 0,16 34 1 0 0,-16-33-67 0 0,10 24 383 0 0,-11-25-262 0 0,0 0 0 0 0,1 0 0 0 0,-1-1 0 0 0,1 1 0 0 0,-1 0 0 0 0,1 0-1 0 0,-1 0 1 0 0,1 0 0 0 0,0 0 0 0 0,0-1 0 0 0,-1 1 0 0 0,1 0 0 0 0,0-1 0 0 0,0 1-1 0 0,0-1 1 0 0,0 1 0 0 0,-1 0 0 0 0,1-1 0 0 0,0 0 0 0 0,0 1 0 0 0,0-1 0 0 0,0 0-1 0 0,0 1 1 0 0,0-1 0 0 0,0 0 0 0 0,0 0 0 0 0,2 0 0 0 0,15-7 124 0 0,0-1 1 0 0,-1 0-1 0 0,0-1 1 0 0,-1-1 0 0 0,0-1-1 0 0,22-19 1 0 0,-3 4-345 0 0,-27 21-244 0 0,-2-2-162 0 0,-1 2-931 0 0,4-5 682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0:15.903"/>
    </inkml:context>
    <inkml:brush xml:id="br0">
      <inkml:brushProperty name="width" value="0.05" units="cm"/>
      <inkml:brushProperty name="height" value="0.05" units="cm"/>
    </inkml:brush>
  </inkml:definitions>
  <inkml:trace contextRef="#ctx0" brushRef="#br0">1 23 2392 0 0,'0'0'9786'0'0,"6"0"-9654"0"0,17-2-62 0 0,-17 1-76 0 0,-2-1-468 0 0,10-4 44 0 0,-10 4-62 0 0,-1 1-1711 0 0,-1-1 1821 0 0,4-2 66 0 0,0 2-3228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0:18.470"/>
    </inkml:context>
    <inkml:brush xml:id="br0">
      <inkml:brushProperty name="width" value="0.05" units="cm"/>
      <inkml:brushProperty name="height" value="0.05" units="cm"/>
    </inkml:brush>
  </inkml:definitions>
  <inkml:trace contextRef="#ctx0" brushRef="#br0">41 30 80 0 0,'0'0'1534'0'0,"-1"-3"-1458"0"0,-2-8-441 0 0,-1-3 3920 0 0,1 13-2027 0 0,1 9-1382 0 0,1-6-39 0 0,5 18 337 0 0,2 85 443 0 0,-5-92-774 0 0,-1 0-1 0 0,-1 0 1 0 0,-2 20-1 0 0,-7 106 399 0 0,10-136-454 0 0,-1 2-46 0 0,-5 86 432 0 0,6-87-384 0 0,0-1-58 0 0,0 10 47 0 0,0-10-34 0 0,-1 1 51 0 0,-1 11-57 0 0,1-12 43 0 0,1 0-37 0 0,0 10 36 0 0,0-10-45 0 0,-1 2 59 0 0,-1 12-37 0 0,1-13 50 0 0,1 16 142 0 0,-3 53 106 0 0,3-70-232 0 0,0 39 70 0 0,0 15 440 0 0,0-54-534 0 0,-2 6-21 0 0,1 0 1 0 0,0-1-1 0 0,1 1 1 0 0,0 10-1 0 0,0-15-8 0 0,-1 7 307 0 0,6-28-9991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2:11.575"/>
    </inkml:context>
    <inkml:brush xml:id="br0">
      <inkml:brushProperty name="width" value="0.05" units="cm"/>
      <inkml:brushProperty name="height" value="0.05" units="cm"/>
    </inkml:brush>
  </inkml:definitions>
  <inkml:trace contextRef="#ctx0" brushRef="#br0">0 28 16 0 0,'0'0'3607'0'0,"1"-3"-3430"0"0,10-21 2163 0 0,-5 97-2090 0 0,-2 480 1926 0 0,-4-550-2125 0 0,0 19-13 0 0,0-3-316 0 0,0-15 16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2:12.048"/>
    </inkml:context>
    <inkml:brush xml:id="br0">
      <inkml:brushProperty name="width" value="0.05" units="cm"/>
      <inkml:brushProperty name="height" value="0.05" units="cm"/>
    </inkml:brush>
  </inkml:definitions>
  <inkml:trace contextRef="#ctx0" brushRef="#br0">147 0 404 0 0,'0'0'4250'0'0,"-3"2"-4126"0"0,1 0-81 0 0,0 0-1 0 0,0 1 1 0 0,0-1 0 0 0,0 1 0 0 0,0-1 0 0 0,0 1 0 0 0,1 0-1 0 0,0-1 1 0 0,-1 1 0 0 0,1 0 0 0 0,0 0 0 0 0,-1 5 0 0 0,-9 48 356 0 0,7-34-194 0 0,-28 111 706 0 0,18-56-419 0 0,-29 224 1344 0 0,35-233-1571 0 0,4-30-316 0 0,-1 68 1 0 0,5-103-281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2:12.457"/>
    </inkml:context>
    <inkml:brush xml:id="br0">
      <inkml:brushProperty name="width" value="0.05" units="cm"/>
      <inkml:brushProperty name="height" value="0.05" units="cm"/>
    </inkml:brush>
  </inkml:definitions>
  <inkml:trace contextRef="#ctx0" brushRef="#br0">36 0 52 0 0,'0'0'1974'0'0,"0"4"-1403"0"0,-3 29 876 0 0,1 40 1 0 0,1 0-440 0 0,-10 284 2438 0 0,1-101-2185 0 0,9-150-4080 0 0,1-102 1310 0 0,-1-1-592 0 0,-5 13-273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1-20T09:02:14.268"/>
    </inkml:context>
    <inkml:brush xml:id="br0">
      <inkml:brushProperty name="width" value="0.05" units="cm"/>
      <inkml:brushProperty name="height" value="0.05" units="cm"/>
    </inkml:brush>
  </inkml:definitions>
  <inkml:trace contextRef="#ctx0" brushRef="#br0">1 1 8 0 0,'0'0'3414'0'0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1-persistent, there is collision if 2 stations waiting in the middle of 3</a:t>
            </a:r>
            <a:r>
              <a:rPr lang="en-US" baseline="30000"/>
              <a:t>rd</a:t>
            </a:r>
            <a:r>
              <a:rPr lang="en-US"/>
              <a:t> being transmitting currently, and both sends immediately when ch is idle.</a:t>
            </a:r>
            <a:endParaRPr/>
          </a:p>
        </p:txBody>
      </p:sp>
      <p:sp>
        <p:nvSpPr>
          <p:cNvPr id="178" name="Google Shape;178;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Conscious: aware of and responding to one's surroundings</a:t>
            </a:r>
            <a:endParaRPr/>
          </a:p>
        </p:txBody>
      </p:sp>
      <p:sp>
        <p:nvSpPr>
          <p:cNvPr id="184" name="Google Shape;18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96344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04431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92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8718901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038752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69505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9335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41227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88569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37507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298291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1494799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0795842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201531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429081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7559127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95300105"/>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12"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25.png"/><Relationship Id="rId26" Type="http://schemas.openxmlformats.org/officeDocument/2006/relationships/customXml" Target="../ink/ink7.xml"/><Relationship Id="rId39" Type="http://schemas.openxmlformats.org/officeDocument/2006/relationships/customXml" Target="../ink/ink13.xml"/><Relationship Id="rId3" Type="http://schemas.openxmlformats.org/officeDocument/2006/relationships/image" Target="../media/image2.png"/><Relationship Id="rId34" Type="http://schemas.openxmlformats.org/officeDocument/2006/relationships/customXml" Target="../ink/ink10.xml"/><Relationship Id="rId7" Type="http://schemas.openxmlformats.org/officeDocument/2006/relationships/image" Target="../media/image22.png"/><Relationship Id="rId25" Type="http://schemas.openxmlformats.org/officeDocument/2006/relationships/image" Target="../media/image31.png"/><Relationship Id="rId33" Type="http://schemas.openxmlformats.org/officeDocument/2006/relationships/image" Target="../media/image35.png"/><Relationship Id="rId38" Type="http://schemas.openxmlformats.org/officeDocument/2006/relationships/image" Target="../media/image37.png"/><Relationship Id="rId2" Type="http://schemas.openxmlformats.org/officeDocument/2006/relationships/notesSlide" Target="../notesSlides/notesSlide8.xml"/><Relationship Id="rId29"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customXml" Target="../ink/ink4.xml"/><Relationship Id="rId32" Type="http://schemas.openxmlformats.org/officeDocument/2006/relationships/customXml" Target="../ink/ink9.xml"/><Relationship Id="rId37" Type="http://schemas.openxmlformats.org/officeDocument/2006/relationships/customXml" Target="../ink/ink12.xml"/><Relationship Id="rId40" Type="http://schemas.openxmlformats.org/officeDocument/2006/relationships/customXml" Target="../ink/ink14.xml"/><Relationship Id="rId45" Type="http://schemas.openxmlformats.org/officeDocument/2006/relationships/image" Target="../media/image40.png"/><Relationship Id="rId5" Type="http://schemas.openxmlformats.org/officeDocument/2006/relationships/image" Target="../media/image21.png"/><Relationship Id="rId36" Type="http://schemas.openxmlformats.org/officeDocument/2006/relationships/image" Target="../media/image36.png"/><Relationship Id="rId31" Type="http://schemas.openxmlformats.org/officeDocument/2006/relationships/image" Target="../media/image34.png"/><Relationship Id="rId44" Type="http://schemas.openxmlformats.org/officeDocument/2006/relationships/customXml" Target="../ink/ink15.xml"/><Relationship Id="rId4" Type="http://schemas.openxmlformats.org/officeDocument/2006/relationships/customXml" Target="../ink/ink3.xml"/><Relationship Id="rId14" Type="http://schemas.openxmlformats.org/officeDocument/2006/relationships/customXml" Target="../ink/ink6.xml"/><Relationship Id="rId30" Type="http://schemas.openxmlformats.org/officeDocument/2006/relationships/customXml" Target="../ink/ink8.xml"/><Relationship Id="rId35" Type="http://schemas.openxmlformats.org/officeDocument/2006/relationships/customXml" Target="../ink/ink11.xml"/><Relationship Id="rId43"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59" Type="http://schemas.openxmlformats.org/officeDocument/2006/relationships/image" Target="../media/image9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ustomXml" Target="../ink/ink1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customXml" Target="../ink/ink1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customXml" Target="../ink/ink19.xml"/></Relationships>
</file>

<file path=ppt/slides/_rels/slide14.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customXml" Target="../ink/ink21.xml"/><Relationship Id="rId4" Type="http://schemas.openxmlformats.org/officeDocument/2006/relationships/image" Target="../media/image131.png"/></Relationships>
</file>

<file path=ppt/slides/_rels/slide15.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customXml" Target="../ink/ink22.xml"/><Relationship Id="rId47" Type="http://schemas.openxmlformats.org/officeDocument/2006/relationships/customXml" Target="../ink/ink26.xml"/><Relationship Id="rId46" Type="http://schemas.openxmlformats.org/officeDocument/2006/relationships/image" Target="../media/image15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customXml" Target="../ink/ink23.xml"/><Relationship Id="rId15" Type="http://schemas.openxmlformats.org/officeDocument/2006/relationships/customXml" Target="../ink/ink25.xml"/><Relationship Id="rId4" Type="http://schemas.openxmlformats.org/officeDocument/2006/relationships/image" Target="../media/image132.png"/><Relationship Id="rId9" Type="http://schemas.openxmlformats.org/officeDocument/2006/relationships/customXml" Target="../ink/ink24.xml"/><Relationship Id="rId14" Type="http://schemas.openxmlformats.org/officeDocument/2006/relationships/image" Target="../media/image137.png"/><Relationship Id="rId48" Type="http://schemas.openxmlformats.org/officeDocument/2006/relationships/image" Target="../media/image154.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29.xml"/><Relationship Id="rId3" Type="http://schemas.openxmlformats.org/officeDocument/2006/relationships/image" Target="../media/image9.png"/><Relationship Id="rId7" Type="http://schemas.openxmlformats.org/officeDocument/2006/relationships/image" Target="../media/image15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ustomXml" Target="../ink/ink28.xml"/><Relationship Id="rId11" Type="http://schemas.openxmlformats.org/officeDocument/2006/relationships/image" Target="../media/image21.png"/><Relationship Id="rId5" Type="http://schemas.openxmlformats.org/officeDocument/2006/relationships/image" Target="../media/image158.png"/><Relationship Id="rId10" Type="http://schemas.openxmlformats.org/officeDocument/2006/relationships/customXml" Target="../ink/ink30.xml"/><Relationship Id="rId4" Type="http://schemas.openxmlformats.org/officeDocument/2006/relationships/customXml" Target="../ink/ink27.xml"/><Relationship Id="rId9"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3"/>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8000"/>
              <a:buFont typeface="Palatino Linotype"/>
              <a:buNone/>
            </a:pPr>
            <a:r>
              <a:rPr lang="en-US"/>
              <a:t>Medium Access Control</a:t>
            </a:r>
            <a:endParaRPr/>
          </a:p>
        </p:txBody>
      </p:sp>
      <p:sp>
        <p:nvSpPr>
          <p:cNvPr id="94" name="Google Shape;94;p13"/>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2400"/>
              <a:buNone/>
            </a:pPr>
            <a:r>
              <a:rPr lang="en-US"/>
              <a:t>Unit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00" name="Google Shape;100;p14"/>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b="1" dirty="0"/>
              <a:t>Network links</a:t>
            </a:r>
            <a:r>
              <a:rPr lang="en-US" dirty="0"/>
              <a:t>: p2p and broadcast link</a:t>
            </a:r>
            <a:endParaRPr dirty="0"/>
          </a:p>
          <a:p>
            <a:pPr marL="342900" lvl="0" indent="-190500" algn="just" rtl="0">
              <a:spcBef>
                <a:spcPts val="480"/>
              </a:spcBef>
              <a:spcAft>
                <a:spcPts val="0"/>
              </a:spcAft>
              <a:buClr>
                <a:srgbClr val="7F7F7F"/>
              </a:buClr>
              <a:buSzPts val="2400"/>
              <a:buNone/>
            </a:pPr>
            <a:endParaRPr b="1" dirty="0"/>
          </a:p>
          <a:p>
            <a:pPr marL="342900" lvl="0" indent="-342900" algn="just" rtl="0">
              <a:spcBef>
                <a:spcPts val="480"/>
              </a:spcBef>
              <a:spcAft>
                <a:spcPts val="0"/>
              </a:spcAft>
              <a:buClr>
                <a:srgbClr val="7F7F7F"/>
              </a:buClr>
              <a:buSzPts val="2400"/>
              <a:buChar char="•"/>
            </a:pPr>
            <a:r>
              <a:rPr lang="en-US" b="1" dirty="0"/>
              <a:t>LANs are broadcast (</a:t>
            </a:r>
            <a:r>
              <a:rPr lang="en-US" dirty="0"/>
              <a:t>WANs are P To P)</a:t>
            </a:r>
            <a:r>
              <a:rPr lang="en-US" b="1" dirty="0"/>
              <a:t> </a:t>
            </a:r>
            <a:endParaRPr dirty="0"/>
          </a:p>
          <a:p>
            <a:pPr marL="342900" lvl="0" indent="-190500" algn="just" rtl="0">
              <a:spcBef>
                <a:spcPts val="480"/>
              </a:spcBef>
              <a:spcAft>
                <a:spcPts val="0"/>
              </a:spcAft>
              <a:buClr>
                <a:srgbClr val="7F7F7F"/>
              </a:buClr>
              <a:buSzPts val="2400"/>
              <a:buNone/>
            </a:pPr>
            <a:endParaRPr dirty="0"/>
          </a:p>
          <a:p>
            <a:pPr marL="342900" lvl="0" indent="-342900" algn="just" rtl="0">
              <a:spcBef>
                <a:spcPts val="480"/>
              </a:spcBef>
              <a:spcAft>
                <a:spcPts val="0"/>
              </a:spcAft>
              <a:buClr>
                <a:srgbClr val="7F7F7F"/>
              </a:buClr>
              <a:buSzPts val="2400"/>
              <a:buChar char="•"/>
            </a:pPr>
            <a:r>
              <a:rPr lang="en-US" dirty="0"/>
              <a:t>Key issue is who will go next, who will get channel</a:t>
            </a:r>
            <a:endParaRPr dirty="0"/>
          </a:p>
          <a:p>
            <a:pPr marL="342900" lvl="0" indent="-190500" algn="just" rtl="0">
              <a:spcBef>
                <a:spcPts val="480"/>
              </a:spcBef>
              <a:spcAft>
                <a:spcPts val="0"/>
              </a:spcAft>
              <a:buClr>
                <a:srgbClr val="7F7F7F"/>
              </a:buClr>
              <a:buSzPts val="2400"/>
              <a:buNone/>
            </a:pPr>
            <a:endParaRPr dirty="0"/>
          </a:p>
          <a:p>
            <a:pPr marL="342900" lvl="0" indent="-342900" algn="just" rtl="0">
              <a:spcBef>
                <a:spcPts val="480"/>
              </a:spcBef>
              <a:spcAft>
                <a:spcPts val="0"/>
              </a:spcAft>
              <a:buClr>
                <a:srgbClr val="7F7F7F"/>
              </a:buClr>
              <a:buSzPts val="2400"/>
              <a:buChar char="•"/>
            </a:pPr>
            <a:r>
              <a:rPr lang="en-US" dirty="0"/>
              <a:t>Broadcast channels are called multi-access or random access channels</a:t>
            </a:r>
            <a:endParaRPr dirty="0"/>
          </a:p>
          <a:p>
            <a:pPr marL="342900" lvl="0" indent="-190500" algn="just" rtl="0">
              <a:spcBef>
                <a:spcPts val="480"/>
              </a:spcBef>
              <a:spcAft>
                <a:spcPts val="0"/>
              </a:spcAft>
              <a:buClr>
                <a:srgbClr val="7F7F7F"/>
              </a:buClr>
              <a:buSzPts val="2400"/>
              <a:buNone/>
            </a:pPr>
            <a:endParaRPr dirty="0"/>
          </a:p>
          <a:p>
            <a:pPr marL="342900" lvl="0" indent="-342900" algn="just" rtl="0">
              <a:spcBef>
                <a:spcPts val="480"/>
              </a:spcBef>
              <a:spcAft>
                <a:spcPts val="0"/>
              </a:spcAft>
              <a:buClr>
                <a:srgbClr val="7F7F7F"/>
              </a:buClr>
              <a:buSzPts val="2400"/>
              <a:buChar char="•"/>
            </a:pPr>
            <a:r>
              <a:rPr lang="en-US" dirty="0"/>
              <a:t>Problem is: How to allocate Channel </a:t>
            </a:r>
            <a:endParaRPr dirty="0"/>
          </a:p>
          <a:p>
            <a:pPr marL="342900" lvl="0" indent="-190500" algn="just" rtl="0">
              <a:spcBef>
                <a:spcPts val="480"/>
              </a:spcBef>
              <a:spcAft>
                <a:spcPts val="0"/>
              </a:spcAft>
              <a:buClr>
                <a:srgbClr val="7F7F7F"/>
              </a:buClr>
              <a:buSzPts val="2400"/>
              <a:buNone/>
            </a:pPr>
            <a:endParaRPr lang="en-IN" dirty="0"/>
          </a:p>
          <a:p>
            <a:pPr marL="342900" lvl="0" indent="-342900" algn="just" rtl="0">
              <a:spcBef>
                <a:spcPts val="480"/>
              </a:spcBef>
              <a:spcAft>
                <a:spcPts val="0"/>
              </a:spcAft>
              <a:buClr>
                <a:srgbClr val="7F7F7F"/>
              </a:buClr>
              <a:buSzPts val="2400"/>
              <a:buChar char="•"/>
            </a:pPr>
            <a:r>
              <a:rPr lang="en-US" dirty="0"/>
              <a:t>Needs a protocol to decide who will go next</a:t>
            </a:r>
            <a:endParaRPr dirty="0"/>
          </a:p>
          <a:p>
            <a:pPr marL="342900" lvl="0" indent="-190500" algn="just" rtl="0">
              <a:spcBef>
                <a:spcPts val="480"/>
              </a:spcBef>
              <a:spcAft>
                <a:spcPts val="0"/>
              </a:spcAft>
              <a:buClr>
                <a:srgbClr val="7F7F7F"/>
              </a:buClr>
              <a:buSzPts val="2400"/>
              <a:buNone/>
            </a:pP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D0682C5-78A4-4F63-BBFF-B905B1C090C0}"/>
                  </a:ext>
                </a:extLst>
              </p14:cNvPr>
              <p14:cNvContentPartPr/>
              <p14:nvPr/>
            </p14:nvContentPartPr>
            <p14:xfrm>
              <a:off x="1098206" y="-533726"/>
              <a:ext cx="2160" cy="4680"/>
            </p14:xfrm>
          </p:contentPart>
        </mc:Choice>
        <mc:Fallback xmlns="">
          <p:pic>
            <p:nvPicPr>
              <p:cNvPr id="2" name="Ink 1">
                <a:extLst>
                  <a:ext uri="{FF2B5EF4-FFF2-40B4-BE49-F238E27FC236}">
                    <a16:creationId xmlns:a16="http://schemas.microsoft.com/office/drawing/2014/main" id="{FD0682C5-78A4-4F63-BBFF-B905B1C090C0}"/>
                  </a:ext>
                </a:extLst>
              </p:cNvPr>
              <p:cNvPicPr/>
              <p:nvPr/>
            </p:nvPicPr>
            <p:blipFill>
              <a:blip r:embed="rId4"/>
              <a:stretch>
                <a:fillRect/>
              </a:stretch>
            </p:blipFill>
            <p:spPr>
              <a:xfrm>
                <a:off x="1089566" y="-542366"/>
                <a:ext cx="198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B27C3D69-6E3E-4B85-ABE7-5FB603D53959}"/>
                  </a:ext>
                </a:extLst>
              </p14:cNvPr>
              <p14:cNvContentPartPr/>
              <p14:nvPr/>
            </p14:nvContentPartPr>
            <p14:xfrm>
              <a:off x="6093547" y="4534000"/>
              <a:ext cx="16920" cy="6120"/>
            </p14:xfrm>
          </p:contentPart>
        </mc:Choice>
        <mc:Fallback xmlns="">
          <p:pic>
            <p:nvPicPr>
              <p:cNvPr id="6" name="Ink 5">
                <a:extLst>
                  <a:ext uri="{FF2B5EF4-FFF2-40B4-BE49-F238E27FC236}">
                    <a16:creationId xmlns:a16="http://schemas.microsoft.com/office/drawing/2014/main" id="{B27C3D69-6E3E-4B85-ABE7-5FB603D53959}"/>
                  </a:ext>
                </a:extLst>
              </p:cNvPr>
              <p:cNvPicPr/>
              <p:nvPr/>
            </p:nvPicPr>
            <p:blipFill>
              <a:blip r:embed="rId12"/>
              <a:stretch>
                <a:fillRect/>
              </a:stretch>
            </p:blipFill>
            <p:spPr>
              <a:xfrm>
                <a:off x="6084547" y="4525360"/>
                <a:ext cx="34560" cy="2376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0" y="188640"/>
            <a:ext cx="9144000" cy="1008112"/>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Channel Allocation Problem</a:t>
            </a:r>
            <a:endParaRPr/>
          </a:p>
        </p:txBody>
      </p:sp>
      <p:sp>
        <p:nvSpPr>
          <p:cNvPr id="106" name="Google Shape;106;p15"/>
          <p:cNvSpPr txBox="1">
            <a:spLocks noGrp="1"/>
          </p:cNvSpPr>
          <p:nvPr>
            <p:ph idx="1"/>
          </p:nvPr>
        </p:nvSpPr>
        <p:spPr>
          <a:xfrm>
            <a:off x="457200" y="1268760"/>
            <a:ext cx="8229600" cy="5400600"/>
          </a:xfrm>
          <a:prstGeom prst="rect">
            <a:avLst/>
          </a:prstGeom>
          <a:noFill/>
          <a:ln>
            <a:noFill/>
          </a:ln>
        </p:spPr>
        <p:txBody>
          <a:bodyPr spcFirstLastPara="1" wrap="square" lIns="91425" tIns="45700" rIns="91425" bIns="45700" anchor="t" anchorCtr="0">
            <a:normAutofit/>
          </a:bodyPr>
          <a:lstStyle/>
          <a:p>
            <a:pPr marL="342900" lvl="0" indent="-165100" algn="just" rtl="0">
              <a:spcBef>
                <a:spcPts val="0"/>
              </a:spcBef>
              <a:spcAft>
                <a:spcPts val="0"/>
              </a:spcAft>
              <a:buClr>
                <a:srgbClr val="7F7F7F"/>
              </a:buClr>
              <a:buSzPts val="2800"/>
              <a:buFont typeface="Noto Sans Symbols"/>
              <a:buNone/>
            </a:pPr>
            <a:endParaRPr sz="2800" b="1"/>
          </a:p>
          <a:p>
            <a:pPr marL="342900" lvl="0" indent="-342900" algn="just" rtl="0">
              <a:spcBef>
                <a:spcPts val="560"/>
              </a:spcBef>
              <a:spcAft>
                <a:spcPts val="0"/>
              </a:spcAft>
              <a:buClr>
                <a:srgbClr val="7F7F7F"/>
              </a:buClr>
              <a:buSzPts val="2800"/>
              <a:buFont typeface="Noto Sans Symbols"/>
              <a:buChar char="❑"/>
            </a:pPr>
            <a:r>
              <a:rPr lang="en-US" sz="2800" b="1"/>
              <a:t>Static Channel Allocation:</a:t>
            </a:r>
            <a:endParaRPr/>
          </a:p>
          <a:p>
            <a:pPr marL="342900" lvl="0" indent="-165100" algn="just" rtl="0">
              <a:spcBef>
                <a:spcPts val="560"/>
              </a:spcBef>
              <a:spcAft>
                <a:spcPts val="0"/>
              </a:spcAft>
              <a:buClr>
                <a:srgbClr val="7F7F7F"/>
              </a:buClr>
              <a:buSzPts val="2800"/>
              <a:buNone/>
            </a:pPr>
            <a:endParaRPr sz="2800" b="1"/>
          </a:p>
          <a:p>
            <a:pPr marL="342900" lvl="0" indent="-342900" algn="just" rtl="0">
              <a:spcBef>
                <a:spcPts val="560"/>
              </a:spcBef>
              <a:spcAft>
                <a:spcPts val="0"/>
              </a:spcAft>
              <a:buClr>
                <a:srgbClr val="7F7F7F"/>
              </a:buClr>
              <a:buSzPts val="2800"/>
              <a:buChar char="•"/>
            </a:pPr>
            <a:r>
              <a:rPr lang="en-US" sz="2800" b="1"/>
              <a:t>FDM: </a:t>
            </a:r>
            <a:r>
              <a:rPr lang="en-US" sz="2800"/>
              <a:t>Example; FM radio stations.</a:t>
            </a:r>
            <a:endParaRPr/>
          </a:p>
          <a:p>
            <a:pPr marL="742950" lvl="1" indent="-285750" algn="just" rtl="0">
              <a:spcBef>
                <a:spcPts val="360"/>
              </a:spcBef>
              <a:spcAft>
                <a:spcPts val="0"/>
              </a:spcAft>
              <a:buClr>
                <a:srgbClr val="7F7F7F"/>
              </a:buClr>
              <a:buSzPts val="1800"/>
              <a:buChar char="o"/>
            </a:pPr>
            <a:r>
              <a:rPr lang="en-US" sz="1800"/>
              <a:t>When there is small and constant users, each of which has steady stream or a heavy load of traffic; this scheme is simple and efficient allocation mech.</a:t>
            </a:r>
            <a:endParaRPr/>
          </a:p>
          <a:p>
            <a:pPr marL="342900" lvl="0" indent="-165100" algn="just" rtl="0">
              <a:spcBef>
                <a:spcPts val="560"/>
              </a:spcBef>
              <a:spcAft>
                <a:spcPts val="0"/>
              </a:spcAft>
              <a:buClr>
                <a:srgbClr val="7F7F7F"/>
              </a:buClr>
              <a:buSzPts val="2800"/>
              <a:buNone/>
            </a:pPr>
            <a:endParaRPr sz="2800"/>
          </a:p>
          <a:p>
            <a:pPr marL="342900" lvl="0" indent="-342900" algn="just" rtl="0">
              <a:spcBef>
                <a:spcPts val="560"/>
              </a:spcBef>
              <a:spcAft>
                <a:spcPts val="0"/>
              </a:spcAft>
              <a:buClr>
                <a:srgbClr val="7F7F7F"/>
              </a:buClr>
              <a:buSzPts val="2800"/>
              <a:buChar char="•"/>
            </a:pPr>
            <a:r>
              <a:rPr lang="en-US" sz="2800"/>
              <a:t>For large no of senders or traffic is bursty, FDM presents some problem.</a:t>
            </a:r>
            <a:endParaRPr/>
          </a:p>
          <a:p>
            <a:pPr marL="742950" lvl="1" indent="-285750" algn="just" rtl="0">
              <a:spcBef>
                <a:spcPts val="400"/>
              </a:spcBef>
              <a:spcAft>
                <a:spcPts val="0"/>
              </a:spcAft>
              <a:buClr>
                <a:srgbClr val="7F7F7F"/>
              </a:buClr>
              <a:buSzPts val="2000"/>
              <a:buChar char="o"/>
            </a:pPr>
            <a:r>
              <a:rPr lang="en-US" sz="2000"/>
              <a:t>If some user communicating; wastage of BW </a:t>
            </a:r>
            <a:endParaRPr/>
          </a:p>
          <a:p>
            <a:pPr marL="742950" lvl="1" indent="-285750" algn="just" rtl="0">
              <a:spcBef>
                <a:spcPts val="400"/>
              </a:spcBef>
              <a:spcAft>
                <a:spcPts val="0"/>
              </a:spcAft>
              <a:buClr>
                <a:srgbClr val="7F7F7F"/>
              </a:buClr>
              <a:buSzPts val="2000"/>
              <a:buChar char="o"/>
            </a:pPr>
            <a:r>
              <a:rPr lang="en-US" sz="2000"/>
              <a:t>If large no; access denied (lack of BW)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13" name="Google Shape;113;p16"/>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a:t>Even if managed no of user to be constant (N), the problem is when users are inactive their BW is wasted since no one is allowed to use. </a:t>
            </a:r>
            <a:endParaRPr/>
          </a:p>
          <a:p>
            <a:pPr marL="342900" lvl="0" indent="-190500" algn="just" rtl="0">
              <a:spcBef>
                <a:spcPts val="480"/>
              </a:spcBef>
              <a:spcAft>
                <a:spcPts val="0"/>
              </a:spcAft>
              <a:buClr>
                <a:srgbClr val="7F7F7F"/>
              </a:buClr>
              <a:buSzPts val="2400"/>
              <a:buNone/>
            </a:pPr>
            <a:endParaRPr/>
          </a:p>
          <a:p>
            <a:pPr marL="342900" lvl="0" indent="-342900" algn="just" rtl="0">
              <a:spcBef>
                <a:spcPts val="480"/>
              </a:spcBef>
              <a:spcAft>
                <a:spcPts val="0"/>
              </a:spcAft>
              <a:buClr>
                <a:srgbClr val="7F7F7F"/>
              </a:buClr>
              <a:buSzPts val="2400"/>
              <a:buChar char="•"/>
            </a:pPr>
            <a:r>
              <a:rPr lang="en-US"/>
              <a:t>A static allocation is poor in which data traffic is extremely bursty. Consequently most of the chs will be idle most of the time.</a:t>
            </a:r>
            <a:endParaRPr/>
          </a:p>
          <a:p>
            <a:pPr marL="0" lvl="0" indent="0" algn="just" rtl="0">
              <a:spcBef>
                <a:spcPts val="480"/>
              </a:spcBef>
              <a:spcAft>
                <a:spcPts val="0"/>
              </a:spcAft>
              <a:buClr>
                <a:srgbClr val="7F7F7F"/>
              </a:buClr>
              <a:buSzPts val="2400"/>
              <a:buNone/>
            </a:pPr>
            <a:endParaRPr/>
          </a:p>
          <a:p>
            <a:pPr marL="342900" lvl="0" indent="-342900" algn="just" rtl="0">
              <a:spcBef>
                <a:spcPts val="480"/>
              </a:spcBef>
              <a:spcAft>
                <a:spcPts val="0"/>
              </a:spcAft>
              <a:buClr>
                <a:srgbClr val="7F7F7F"/>
              </a:buClr>
              <a:buSzPts val="2400"/>
              <a:buChar char="•"/>
            </a:pPr>
            <a:r>
              <a:rPr lang="en-US"/>
              <a:t>Static ch allocation doesn’t works well with bursty traffic.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Dynamic Ch Allocation</a:t>
            </a:r>
            <a:endParaRPr/>
          </a:p>
        </p:txBody>
      </p:sp>
      <p:sp>
        <p:nvSpPr>
          <p:cNvPr id="119" name="Google Shape;119;p17"/>
          <p:cNvSpPr txBox="1">
            <a:spLocks noGrp="1"/>
          </p:cNvSpPr>
          <p:nvPr>
            <p:ph idx="1"/>
          </p:nvPr>
        </p:nvSpPr>
        <p:spPr>
          <a:xfrm>
            <a:off x="457200" y="1052736"/>
            <a:ext cx="8507288"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800"/>
              <a:buFont typeface="Noto Sans Symbols"/>
              <a:buChar char="❑"/>
            </a:pPr>
            <a:r>
              <a:rPr lang="en-US" sz="2800" b="1" dirty="0"/>
              <a:t>Assumptions:</a:t>
            </a:r>
            <a:endParaRPr dirty="0"/>
          </a:p>
          <a:p>
            <a:pPr marL="514350" lvl="0" indent="-514350" algn="just" rtl="0">
              <a:spcBef>
                <a:spcPts val="560"/>
              </a:spcBef>
              <a:spcAft>
                <a:spcPts val="0"/>
              </a:spcAft>
              <a:buClr>
                <a:srgbClr val="7F7F7F"/>
              </a:buClr>
              <a:buSzPts val="2800"/>
              <a:buAutoNum type="arabicPeriod"/>
            </a:pPr>
            <a:r>
              <a:rPr lang="en-US" sz="2800" b="1" dirty="0"/>
              <a:t>Independent Traffic </a:t>
            </a:r>
            <a:r>
              <a:rPr lang="en-US" sz="2800" dirty="0"/>
              <a:t>	</a:t>
            </a:r>
            <a:endParaRPr dirty="0"/>
          </a:p>
          <a:p>
            <a:pPr marL="400050" lvl="1" indent="0" algn="just" rtl="0">
              <a:spcBef>
                <a:spcPts val="400"/>
              </a:spcBef>
              <a:spcAft>
                <a:spcPts val="0"/>
              </a:spcAft>
              <a:buClr>
                <a:srgbClr val="7F7F7F"/>
              </a:buClr>
              <a:buSzPts val="2000"/>
              <a:buNone/>
            </a:pPr>
            <a:r>
              <a:rPr lang="en-US" sz="2000" dirty="0"/>
              <a:t> N independent stations; </a:t>
            </a:r>
            <a:r>
              <a:rPr lang="en-US" sz="2000" b="1" dirty="0" err="1"/>
              <a:t>λΔt</a:t>
            </a:r>
            <a:r>
              <a:rPr lang="en-US" sz="2000" b="1" dirty="0"/>
              <a:t> </a:t>
            </a:r>
            <a:r>
              <a:rPr lang="en-US" sz="2000" dirty="0"/>
              <a:t>frames; Once a frame been generated, the station is blocked and does nothing until the frame transmitted successfully.</a:t>
            </a:r>
            <a:endParaRPr dirty="0"/>
          </a:p>
          <a:p>
            <a:pPr marL="514350" lvl="0" indent="-514350" algn="just" rtl="0">
              <a:spcBef>
                <a:spcPts val="560"/>
              </a:spcBef>
              <a:spcAft>
                <a:spcPts val="0"/>
              </a:spcAft>
              <a:buClr>
                <a:srgbClr val="7F7F7F"/>
              </a:buClr>
              <a:buSzPts val="2800"/>
              <a:buAutoNum type="arabicPeriod"/>
            </a:pPr>
            <a:r>
              <a:rPr lang="en-US" sz="2800" b="1" dirty="0"/>
              <a:t>Single CH.: </a:t>
            </a:r>
            <a:endParaRPr dirty="0"/>
          </a:p>
          <a:p>
            <a:pPr marL="400050" lvl="1" indent="0" algn="just" rtl="0">
              <a:spcBef>
                <a:spcPts val="400"/>
              </a:spcBef>
              <a:spcAft>
                <a:spcPts val="0"/>
              </a:spcAft>
              <a:buClr>
                <a:srgbClr val="7F7F7F"/>
              </a:buClr>
              <a:buSzPts val="2000"/>
              <a:buNone/>
            </a:pPr>
            <a:r>
              <a:rPr lang="en-US" sz="2000" dirty="0"/>
              <a:t>All station can send and receive from it; stations are of equal capable but may be assigned diff roles through protocols </a:t>
            </a:r>
            <a:endParaRPr sz="2000" b="1" dirty="0"/>
          </a:p>
          <a:p>
            <a:pPr marL="514350" lvl="0" indent="-514350" algn="just" rtl="0">
              <a:spcBef>
                <a:spcPts val="560"/>
              </a:spcBef>
              <a:spcAft>
                <a:spcPts val="0"/>
              </a:spcAft>
              <a:buClr>
                <a:srgbClr val="7F7F7F"/>
              </a:buClr>
              <a:buSzPts val="2800"/>
              <a:buAutoNum type="arabicPeriod"/>
            </a:pPr>
            <a:r>
              <a:rPr lang="en-US" sz="2800" b="1" dirty="0"/>
              <a:t>Observable Collisions: </a:t>
            </a:r>
            <a:endParaRPr dirty="0"/>
          </a:p>
          <a:p>
            <a:pPr marL="400050" lvl="1" indent="0" algn="just" rtl="0">
              <a:spcBef>
                <a:spcPts val="400"/>
              </a:spcBef>
              <a:spcAft>
                <a:spcPts val="0"/>
              </a:spcAft>
              <a:buClr>
                <a:srgbClr val="7F7F7F"/>
              </a:buClr>
              <a:buSzPts val="2000"/>
              <a:buNone/>
            </a:pPr>
            <a:r>
              <a:rPr lang="en-US" sz="2000" dirty="0"/>
              <a:t>If 2 frames are transmitted simultaneously, they overlap in time -&gt; garbled; collision. All Stations can detect collision; retransmits.</a:t>
            </a:r>
            <a:endParaRPr sz="2000" b="1" dirty="0"/>
          </a:p>
          <a:p>
            <a:pPr marL="514350" lvl="0" indent="-514350" algn="just" rtl="0">
              <a:spcBef>
                <a:spcPts val="560"/>
              </a:spcBef>
              <a:spcAft>
                <a:spcPts val="0"/>
              </a:spcAft>
              <a:buClr>
                <a:srgbClr val="7F7F7F"/>
              </a:buClr>
              <a:buSzPts val="2800"/>
              <a:buAutoNum type="arabicPeriod"/>
            </a:pPr>
            <a:r>
              <a:rPr lang="en-US" sz="2800" b="1" dirty="0"/>
              <a:t>Continuous or slotted time:</a:t>
            </a:r>
            <a:endParaRPr sz="2800" dirty="0"/>
          </a:p>
          <a:p>
            <a:pPr marL="400050" lvl="1" indent="0" algn="just" rtl="0">
              <a:spcBef>
                <a:spcPts val="400"/>
              </a:spcBef>
              <a:spcAft>
                <a:spcPts val="0"/>
              </a:spcAft>
              <a:buClr>
                <a:srgbClr val="7F7F7F"/>
              </a:buClr>
              <a:buSzPts val="2000"/>
              <a:buNone/>
            </a:pPr>
            <a:r>
              <a:rPr lang="en-US" sz="2000" dirty="0"/>
              <a:t>Sending frame any time or at start of slot; Slot may contain 0,1 or more frames-&gt; idle, success, collision.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25" name="Google Shape;125;p18"/>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457200" lvl="0" indent="-457200" algn="just" rtl="0">
              <a:spcBef>
                <a:spcPts val="0"/>
              </a:spcBef>
              <a:spcAft>
                <a:spcPts val="0"/>
              </a:spcAft>
              <a:buClr>
                <a:srgbClr val="7F7F7F"/>
              </a:buClr>
              <a:buSzPts val="2800"/>
              <a:buAutoNum type="arabicPeriod" startAt="5"/>
            </a:pPr>
            <a:r>
              <a:rPr lang="en-US" sz="2800" b="1" dirty="0"/>
              <a:t>Carrier Sense or No Carrier Sense:</a:t>
            </a:r>
            <a:endParaRPr dirty="0"/>
          </a:p>
          <a:p>
            <a:pPr marL="400050" lvl="1" indent="0" algn="just" rtl="0">
              <a:spcBef>
                <a:spcPts val="360"/>
              </a:spcBef>
              <a:spcAft>
                <a:spcPts val="0"/>
              </a:spcAft>
              <a:buClr>
                <a:srgbClr val="7F7F7F"/>
              </a:buClr>
              <a:buSzPts val="1800"/>
              <a:buNone/>
            </a:pPr>
            <a:r>
              <a:rPr lang="en-US" sz="1800" dirty="0"/>
              <a:t>Carrier sense: stations can tell if </a:t>
            </a:r>
            <a:r>
              <a:rPr lang="en-US" sz="1800" dirty="0" err="1"/>
              <a:t>ch</a:t>
            </a:r>
            <a:r>
              <a:rPr lang="en-US" sz="1800" dirty="0"/>
              <a:t> is in use b4 trying. No station attempt  to use if sensed busy.</a:t>
            </a:r>
          </a:p>
          <a:p>
            <a:pPr marL="400050" lvl="1" indent="0" algn="just" rtl="0">
              <a:spcBef>
                <a:spcPts val="360"/>
              </a:spcBef>
              <a:spcAft>
                <a:spcPts val="0"/>
              </a:spcAft>
              <a:buClr>
                <a:srgbClr val="7F7F7F"/>
              </a:buClr>
              <a:buSzPts val="1800"/>
              <a:buNone/>
            </a:pPr>
            <a:endParaRPr lang="en-US" dirty="0"/>
          </a:p>
          <a:p>
            <a:pPr marL="400050" lvl="1" indent="0" algn="just" rtl="0">
              <a:spcBef>
                <a:spcPts val="360"/>
              </a:spcBef>
              <a:spcAft>
                <a:spcPts val="0"/>
              </a:spcAft>
              <a:buClr>
                <a:srgbClr val="7F7F7F"/>
              </a:buClr>
              <a:buSzPts val="1800"/>
              <a:buNone/>
            </a:pPr>
            <a:endParaRPr lang="en-US" sz="1800" dirty="0"/>
          </a:p>
          <a:p>
            <a:pPr marL="400050" lvl="1" indent="0" algn="just" rtl="0">
              <a:spcBef>
                <a:spcPts val="360"/>
              </a:spcBef>
              <a:spcAft>
                <a:spcPts val="0"/>
              </a:spcAft>
              <a:buClr>
                <a:srgbClr val="7F7F7F"/>
              </a:buClr>
              <a:buSzPts val="1800"/>
              <a:buNone/>
            </a:pPr>
            <a:r>
              <a:rPr lang="en-US" sz="1800" dirty="0"/>
              <a:t>No carrier sense: Cant sense b4 trying, just sends and can determine whether is was successful transmission.</a:t>
            </a:r>
            <a:endParaRPr dirty="0"/>
          </a:p>
          <a:p>
            <a:pPr marL="400050" lvl="1" indent="0" algn="just" rtl="0">
              <a:spcBef>
                <a:spcPts val="360"/>
              </a:spcBef>
              <a:spcAft>
                <a:spcPts val="0"/>
              </a:spcAft>
              <a:buClr>
                <a:srgbClr val="7F7F7F"/>
              </a:buClr>
              <a:buSzPts val="1800"/>
              <a:buNone/>
            </a:pPr>
            <a:endParaRPr sz="1800" dirty="0"/>
          </a:p>
          <a:p>
            <a:pPr marL="0" lvl="0" indent="0" algn="just" rtl="0">
              <a:spcBef>
                <a:spcPts val="560"/>
              </a:spcBef>
              <a:spcAft>
                <a:spcPts val="0"/>
              </a:spcAft>
              <a:buClr>
                <a:srgbClr val="7F7F7F"/>
              </a:buClr>
              <a:buSzPts val="2800"/>
              <a:buNone/>
            </a:pPr>
            <a:r>
              <a:rPr lang="en-US" sz="2800" dirty="0"/>
              <a:t>    Note: No Multiaccess protocol guarantees reliable delivery. Even in absence of collisions, the receiver may receive frames in-correctly for various reasons.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Multiple Access Protocol</a:t>
            </a:r>
            <a:endParaRPr/>
          </a:p>
        </p:txBody>
      </p:sp>
      <p:sp>
        <p:nvSpPr>
          <p:cNvPr id="131" name="Google Shape;131;p19"/>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Font typeface="Noto Sans Symbols"/>
              <a:buChar char="❑"/>
            </a:pPr>
            <a:r>
              <a:rPr lang="en-US" b="1" dirty="0"/>
              <a:t>ALOHA: Pure and Slotted</a:t>
            </a:r>
            <a:endParaRPr dirty="0"/>
          </a:p>
          <a:p>
            <a:pPr marL="342900" lvl="0" indent="-342900" algn="just" rtl="0">
              <a:spcBef>
                <a:spcPts val="480"/>
              </a:spcBef>
              <a:spcAft>
                <a:spcPts val="0"/>
              </a:spcAft>
              <a:buClr>
                <a:srgbClr val="7F7F7F"/>
              </a:buClr>
              <a:buSzPts val="2400"/>
              <a:buFont typeface="Noto Sans Symbols"/>
              <a:buChar char="❑"/>
            </a:pPr>
            <a:r>
              <a:rPr lang="en-US" b="1" dirty="0"/>
              <a:t>Pure ALOHA</a:t>
            </a:r>
            <a:endParaRPr dirty="0"/>
          </a:p>
          <a:p>
            <a:pPr marL="342900" lvl="0" indent="-342900" algn="just" rtl="0">
              <a:spcBef>
                <a:spcPts val="480"/>
              </a:spcBef>
              <a:spcAft>
                <a:spcPts val="0"/>
              </a:spcAft>
              <a:buClr>
                <a:srgbClr val="7F7F7F"/>
              </a:buClr>
              <a:buSzPts val="2400"/>
              <a:buChar char="•"/>
            </a:pPr>
            <a:r>
              <a:rPr lang="en-US" dirty="0"/>
              <a:t>The basic idea is simple, let users transmit whenever they have data to send.</a:t>
            </a:r>
            <a:endParaRPr dirty="0"/>
          </a:p>
          <a:p>
            <a:pPr marL="342900" lvl="0" indent="-342900" algn="just" rtl="0">
              <a:spcBef>
                <a:spcPts val="480"/>
              </a:spcBef>
              <a:spcAft>
                <a:spcPts val="0"/>
              </a:spcAft>
              <a:buClr>
                <a:srgbClr val="7F7F7F"/>
              </a:buClr>
              <a:buSzPts val="2400"/>
              <a:buChar char="•"/>
            </a:pPr>
            <a:r>
              <a:rPr lang="en-US" dirty="0"/>
              <a:t>In ALOHA, after each station has sent its frame to central computer, this comp rebroadcast the frame to all of the stations.</a:t>
            </a:r>
            <a:endParaRPr dirty="0"/>
          </a:p>
          <a:p>
            <a:pPr marL="342900" lvl="0" indent="-342900" algn="just" rtl="0">
              <a:spcBef>
                <a:spcPts val="480"/>
              </a:spcBef>
              <a:spcAft>
                <a:spcPts val="0"/>
              </a:spcAft>
              <a:buClr>
                <a:srgbClr val="7F7F7F"/>
              </a:buClr>
              <a:buSzPts val="2400"/>
              <a:buChar char="•"/>
            </a:pPr>
            <a:r>
              <a:rPr lang="en-US" dirty="0"/>
              <a:t>If the frame was destroyed, the sender just waits a </a:t>
            </a:r>
            <a:r>
              <a:rPr lang="en-US" b="1" dirty="0"/>
              <a:t>random</a:t>
            </a:r>
            <a:r>
              <a:rPr lang="en-US" dirty="0"/>
              <a:t> amount of time and sends it again.</a:t>
            </a:r>
            <a:endParaRPr dirty="0"/>
          </a:p>
          <a:p>
            <a:pPr marL="342900" lvl="0" indent="-342900" algn="just" rtl="0">
              <a:spcBef>
                <a:spcPts val="480"/>
              </a:spcBef>
              <a:spcAft>
                <a:spcPts val="0"/>
              </a:spcAft>
              <a:buClr>
                <a:srgbClr val="7F7F7F"/>
              </a:buClr>
              <a:buSzPts val="2400"/>
              <a:buChar char="•"/>
            </a:pPr>
            <a:r>
              <a:rPr lang="en-US" dirty="0"/>
              <a:t>The frames are of same length. (for max throughput)</a:t>
            </a:r>
            <a:endParaRPr dirty="0"/>
          </a:p>
          <a:p>
            <a:pPr marL="342900" lvl="0" indent="-342900" algn="just" rtl="0">
              <a:spcBef>
                <a:spcPts val="480"/>
              </a:spcBef>
              <a:spcAft>
                <a:spcPts val="0"/>
              </a:spcAft>
              <a:buClr>
                <a:srgbClr val="7F7F7F"/>
              </a:buClr>
              <a:buSzPts val="2400"/>
              <a:buChar char="•"/>
            </a:pPr>
            <a:r>
              <a:rPr lang="en-US" dirty="0"/>
              <a:t>When frames collide, they will garbled.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37" name="Google Shape;137;p20"/>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138" name="Google Shape;138;p20"/>
          <p:cNvSpPr txBox="1"/>
          <p:nvPr/>
        </p:nvSpPr>
        <p:spPr>
          <a:xfrm>
            <a:off x="287338" y="5715000"/>
            <a:ext cx="8856662"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7F7F7F"/>
              </a:buClr>
              <a:buSzPts val="2400"/>
              <a:buFont typeface="Arial"/>
              <a:buNone/>
            </a:pPr>
            <a:r>
              <a:rPr lang="en-US" sz="2400" b="0" i="0" u="none" strike="noStrike" cap="none">
                <a:solidFill>
                  <a:srgbClr val="7F7F7F"/>
                </a:solidFill>
                <a:latin typeface="Arial"/>
                <a:ea typeface="Arial"/>
                <a:cs typeface="Arial"/>
                <a:sym typeface="Arial"/>
              </a:rPr>
              <a:t>In pure ALOHA, frames are transmitted </a:t>
            </a:r>
            <a:br>
              <a:rPr lang="en-US" sz="2400" b="0" i="0" u="none" strike="noStrike" cap="none">
                <a:solidFill>
                  <a:srgbClr val="7F7F7F"/>
                </a:solidFill>
                <a:latin typeface="Arial"/>
                <a:ea typeface="Arial"/>
                <a:cs typeface="Arial"/>
                <a:sym typeface="Arial"/>
              </a:rPr>
            </a:br>
            <a:r>
              <a:rPr lang="en-US" sz="2400" b="0" i="0" u="none" strike="noStrike" cap="none">
                <a:solidFill>
                  <a:srgbClr val="7F7F7F"/>
                </a:solidFill>
                <a:latin typeface="Arial"/>
                <a:ea typeface="Arial"/>
                <a:cs typeface="Arial"/>
                <a:sym typeface="Arial"/>
              </a:rPr>
              <a:t>at completely arbitrary times</a:t>
            </a:r>
            <a:endParaRPr/>
          </a:p>
        </p:txBody>
      </p:sp>
      <p:pic>
        <p:nvPicPr>
          <p:cNvPr id="139" name="Google Shape;139;p20"/>
          <p:cNvPicPr preferRelativeResize="0"/>
          <p:nvPr/>
        </p:nvPicPr>
        <p:blipFill rotWithShape="1">
          <a:blip r:embed="rId3">
            <a:alphaModFix/>
          </a:blip>
          <a:srcRect/>
          <a:stretch/>
        </p:blipFill>
        <p:spPr>
          <a:xfrm>
            <a:off x="928688" y="1571625"/>
            <a:ext cx="7286625" cy="37147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0FB0D23-F066-4DE6-86D4-3AC6C8AA3DA2}"/>
                  </a:ext>
                </a:extLst>
              </p14:cNvPr>
              <p14:cNvContentPartPr/>
              <p14:nvPr/>
            </p14:nvContentPartPr>
            <p14:xfrm>
              <a:off x="1024280" y="2266427"/>
              <a:ext cx="360" cy="360"/>
            </p14:xfrm>
          </p:contentPart>
        </mc:Choice>
        <mc:Fallback xmlns="">
          <p:pic>
            <p:nvPicPr>
              <p:cNvPr id="2" name="Ink 1">
                <a:extLst>
                  <a:ext uri="{FF2B5EF4-FFF2-40B4-BE49-F238E27FC236}">
                    <a16:creationId xmlns:a16="http://schemas.microsoft.com/office/drawing/2014/main" id="{60FB0D23-F066-4DE6-86D4-3AC6C8AA3DA2}"/>
                  </a:ext>
                </a:extLst>
              </p:cNvPr>
              <p:cNvPicPr/>
              <p:nvPr/>
            </p:nvPicPr>
            <p:blipFill>
              <a:blip r:embed="rId5"/>
              <a:stretch>
                <a:fillRect/>
              </a:stretch>
            </p:blipFill>
            <p:spPr>
              <a:xfrm>
                <a:off x="1015640" y="225778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4D25D0CB-9E8F-4176-8621-B81F84F1734D}"/>
                  </a:ext>
                </a:extLst>
              </p14:cNvPr>
              <p14:cNvContentPartPr/>
              <p14:nvPr/>
            </p14:nvContentPartPr>
            <p14:xfrm>
              <a:off x="1966400" y="2174267"/>
              <a:ext cx="19440" cy="3960"/>
            </p14:xfrm>
          </p:contentPart>
        </mc:Choice>
        <mc:Fallback xmlns="">
          <p:pic>
            <p:nvPicPr>
              <p:cNvPr id="3" name="Ink 2">
                <a:extLst>
                  <a:ext uri="{FF2B5EF4-FFF2-40B4-BE49-F238E27FC236}">
                    <a16:creationId xmlns:a16="http://schemas.microsoft.com/office/drawing/2014/main" id="{4D25D0CB-9E8F-4176-8621-B81F84F1734D}"/>
                  </a:ext>
                </a:extLst>
              </p:cNvPr>
              <p:cNvPicPr/>
              <p:nvPr/>
            </p:nvPicPr>
            <p:blipFill>
              <a:blip r:embed="rId7"/>
              <a:stretch>
                <a:fillRect/>
              </a:stretch>
            </p:blipFill>
            <p:spPr>
              <a:xfrm>
                <a:off x="1957760" y="2165627"/>
                <a:ext cx="37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9C6F2173-826F-4381-8881-DC2C3B234146}"/>
                  </a:ext>
                </a:extLst>
              </p14:cNvPr>
              <p14:cNvContentPartPr/>
              <p14:nvPr/>
            </p14:nvContentPartPr>
            <p14:xfrm>
              <a:off x="3102920" y="2669987"/>
              <a:ext cx="36360" cy="113040"/>
            </p14:xfrm>
          </p:contentPart>
        </mc:Choice>
        <mc:Fallback xmlns="">
          <p:pic>
            <p:nvPicPr>
              <p:cNvPr id="6" name="Ink 5">
                <a:extLst>
                  <a:ext uri="{FF2B5EF4-FFF2-40B4-BE49-F238E27FC236}">
                    <a16:creationId xmlns:a16="http://schemas.microsoft.com/office/drawing/2014/main" id="{9C6F2173-826F-4381-8881-DC2C3B234146}"/>
                  </a:ext>
                </a:extLst>
              </p:cNvPr>
              <p:cNvPicPr/>
              <p:nvPr/>
            </p:nvPicPr>
            <p:blipFill>
              <a:blip r:embed="rId13"/>
              <a:stretch>
                <a:fillRect/>
              </a:stretch>
            </p:blipFill>
            <p:spPr>
              <a:xfrm>
                <a:off x="3094280" y="2661347"/>
                <a:ext cx="540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Ink 49">
                <a:extLst>
                  <a:ext uri="{FF2B5EF4-FFF2-40B4-BE49-F238E27FC236}">
                    <a16:creationId xmlns:a16="http://schemas.microsoft.com/office/drawing/2014/main" id="{2A209FF4-97E5-4D96-898D-F9B8CC2049AC}"/>
                  </a:ext>
                </a:extLst>
              </p14:cNvPr>
              <p14:cNvContentPartPr/>
              <p14:nvPr/>
            </p14:nvContentPartPr>
            <p14:xfrm>
              <a:off x="1987640" y="2168147"/>
              <a:ext cx="52200" cy="57960"/>
            </p14:xfrm>
          </p:contentPart>
        </mc:Choice>
        <mc:Fallback xmlns="">
          <p:pic>
            <p:nvPicPr>
              <p:cNvPr id="50" name="Ink 49">
                <a:extLst>
                  <a:ext uri="{FF2B5EF4-FFF2-40B4-BE49-F238E27FC236}">
                    <a16:creationId xmlns:a16="http://schemas.microsoft.com/office/drawing/2014/main" id="{2A209FF4-97E5-4D96-898D-F9B8CC2049AC}"/>
                  </a:ext>
                </a:extLst>
              </p:cNvPr>
              <p:cNvPicPr/>
              <p:nvPr/>
            </p:nvPicPr>
            <p:blipFill>
              <a:blip r:embed="rId25"/>
              <a:stretch>
                <a:fillRect/>
              </a:stretch>
            </p:blipFill>
            <p:spPr>
              <a:xfrm>
                <a:off x="1979000" y="2159147"/>
                <a:ext cx="698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2" name="Ink 51">
                <a:extLst>
                  <a:ext uri="{FF2B5EF4-FFF2-40B4-BE49-F238E27FC236}">
                    <a16:creationId xmlns:a16="http://schemas.microsoft.com/office/drawing/2014/main" id="{78EA6CDC-34EA-4F3E-AE6A-C9ECAFD94307}"/>
                  </a:ext>
                </a:extLst>
              </p14:cNvPr>
              <p14:cNvContentPartPr/>
              <p14:nvPr/>
            </p14:nvContentPartPr>
            <p14:xfrm>
              <a:off x="2404160" y="3846533"/>
              <a:ext cx="9360" cy="2520"/>
            </p14:xfrm>
          </p:contentPart>
        </mc:Choice>
        <mc:Fallback xmlns="">
          <p:pic>
            <p:nvPicPr>
              <p:cNvPr id="52" name="Ink 51">
                <a:extLst>
                  <a:ext uri="{FF2B5EF4-FFF2-40B4-BE49-F238E27FC236}">
                    <a16:creationId xmlns:a16="http://schemas.microsoft.com/office/drawing/2014/main" id="{78EA6CDC-34EA-4F3E-AE6A-C9ECAFD94307}"/>
                  </a:ext>
                </a:extLst>
              </p:cNvPr>
              <p:cNvPicPr/>
              <p:nvPr/>
            </p:nvPicPr>
            <p:blipFill>
              <a:blip r:embed="rId29"/>
              <a:stretch>
                <a:fillRect/>
              </a:stretch>
            </p:blipFill>
            <p:spPr>
              <a:xfrm>
                <a:off x="2395520" y="3837533"/>
                <a:ext cx="270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3" name="Ink 52">
                <a:extLst>
                  <a:ext uri="{FF2B5EF4-FFF2-40B4-BE49-F238E27FC236}">
                    <a16:creationId xmlns:a16="http://schemas.microsoft.com/office/drawing/2014/main" id="{4BC194D8-32AB-4D79-B38B-BA96A10DEB7A}"/>
                  </a:ext>
                </a:extLst>
              </p14:cNvPr>
              <p14:cNvContentPartPr/>
              <p14:nvPr/>
            </p14:nvContentPartPr>
            <p14:xfrm>
              <a:off x="2659040" y="2859413"/>
              <a:ext cx="6840" cy="5040"/>
            </p14:xfrm>
          </p:contentPart>
        </mc:Choice>
        <mc:Fallback xmlns="">
          <p:pic>
            <p:nvPicPr>
              <p:cNvPr id="53" name="Ink 52">
                <a:extLst>
                  <a:ext uri="{FF2B5EF4-FFF2-40B4-BE49-F238E27FC236}">
                    <a16:creationId xmlns:a16="http://schemas.microsoft.com/office/drawing/2014/main" id="{4BC194D8-32AB-4D79-B38B-BA96A10DEB7A}"/>
                  </a:ext>
                </a:extLst>
              </p:cNvPr>
              <p:cNvPicPr/>
              <p:nvPr/>
            </p:nvPicPr>
            <p:blipFill>
              <a:blip r:embed="rId31"/>
              <a:stretch>
                <a:fillRect/>
              </a:stretch>
            </p:blipFill>
            <p:spPr>
              <a:xfrm>
                <a:off x="2650040" y="2850413"/>
                <a:ext cx="244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4" name="Ink 53">
                <a:extLst>
                  <a:ext uri="{FF2B5EF4-FFF2-40B4-BE49-F238E27FC236}">
                    <a16:creationId xmlns:a16="http://schemas.microsoft.com/office/drawing/2014/main" id="{C54165F9-A47B-4D3A-BA51-BCB05AD4DDEA}"/>
                  </a:ext>
                </a:extLst>
              </p14:cNvPr>
              <p14:cNvContentPartPr/>
              <p14:nvPr/>
            </p14:nvContentPartPr>
            <p14:xfrm>
              <a:off x="5121440" y="3420293"/>
              <a:ext cx="16920" cy="11880"/>
            </p14:xfrm>
          </p:contentPart>
        </mc:Choice>
        <mc:Fallback xmlns="">
          <p:pic>
            <p:nvPicPr>
              <p:cNvPr id="54" name="Ink 53">
                <a:extLst>
                  <a:ext uri="{FF2B5EF4-FFF2-40B4-BE49-F238E27FC236}">
                    <a16:creationId xmlns:a16="http://schemas.microsoft.com/office/drawing/2014/main" id="{C54165F9-A47B-4D3A-BA51-BCB05AD4DDEA}"/>
                  </a:ext>
                </a:extLst>
              </p:cNvPr>
              <p:cNvPicPr/>
              <p:nvPr/>
            </p:nvPicPr>
            <p:blipFill>
              <a:blip r:embed="rId33"/>
              <a:stretch>
                <a:fillRect/>
              </a:stretch>
            </p:blipFill>
            <p:spPr>
              <a:xfrm>
                <a:off x="5112800" y="3411293"/>
                <a:ext cx="345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5" name="Ink 54">
                <a:extLst>
                  <a:ext uri="{FF2B5EF4-FFF2-40B4-BE49-F238E27FC236}">
                    <a16:creationId xmlns:a16="http://schemas.microsoft.com/office/drawing/2014/main" id="{4A17FCC0-FCDA-4BA5-A448-8A001A31CB00}"/>
                  </a:ext>
                </a:extLst>
              </p14:cNvPr>
              <p14:cNvContentPartPr/>
              <p14:nvPr/>
            </p14:nvContentPartPr>
            <p14:xfrm>
              <a:off x="1892240" y="3881093"/>
              <a:ext cx="360" cy="360"/>
            </p14:xfrm>
          </p:contentPart>
        </mc:Choice>
        <mc:Fallback xmlns="">
          <p:pic>
            <p:nvPicPr>
              <p:cNvPr id="55" name="Ink 54">
                <a:extLst>
                  <a:ext uri="{FF2B5EF4-FFF2-40B4-BE49-F238E27FC236}">
                    <a16:creationId xmlns:a16="http://schemas.microsoft.com/office/drawing/2014/main" id="{4A17FCC0-FCDA-4BA5-A448-8A001A31CB00}"/>
                  </a:ext>
                </a:extLst>
              </p:cNvPr>
              <p:cNvPicPr/>
              <p:nvPr/>
            </p:nvPicPr>
            <p:blipFill>
              <a:blip r:embed="rId5"/>
              <a:stretch>
                <a:fillRect/>
              </a:stretch>
            </p:blipFill>
            <p:spPr>
              <a:xfrm>
                <a:off x="1883600" y="387209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6" name="Ink 55">
                <a:extLst>
                  <a:ext uri="{FF2B5EF4-FFF2-40B4-BE49-F238E27FC236}">
                    <a16:creationId xmlns:a16="http://schemas.microsoft.com/office/drawing/2014/main" id="{FB6D8D42-AFE7-4395-93A1-786965972954}"/>
                  </a:ext>
                </a:extLst>
              </p14:cNvPr>
              <p14:cNvContentPartPr/>
              <p14:nvPr/>
            </p14:nvContentPartPr>
            <p14:xfrm>
              <a:off x="1747520" y="4432613"/>
              <a:ext cx="7920" cy="1440"/>
            </p14:xfrm>
          </p:contentPart>
        </mc:Choice>
        <mc:Fallback xmlns="">
          <p:pic>
            <p:nvPicPr>
              <p:cNvPr id="56" name="Ink 55">
                <a:extLst>
                  <a:ext uri="{FF2B5EF4-FFF2-40B4-BE49-F238E27FC236}">
                    <a16:creationId xmlns:a16="http://schemas.microsoft.com/office/drawing/2014/main" id="{FB6D8D42-AFE7-4395-93A1-786965972954}"/>
                  </a:ext>
                </a:extLst>
              </p:cNvPr>
              <p:cNvPicPr/>
              <p:nvPr/>
            </p:nvPicPr>
            <p:blipFill>
              <a:blip r:embed="rId36"/>
              <a:stretch>
                <a:fillRect/>
              </a:stretch>
            </p:blipFill>
            <p:spPr>
              <a:xfrm>
                <a:off x="1738880" y="4423973"/>
                <a:ext cx="255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7" name="Ink 56">
                <a:extLst>
                  <a:ext uri="{FF2B5EF4-FFF2-40B4-BE49-F238E27FC236}">
                    <a16:creationId xmlns:a16="http://schemas.microsoft.com/office/drawing/2014/main" id="{CF0A0A22-1E68-43F1-85A8-D75D904E1F4D}"/>
                  </a:ext>
                </a:extLst>
              </p14:cNvPr>
              <p14:cNvContentPartPr/>
              <p14:nvPr/>
            </p14:nvContentPartPr>
            <p14:xfrm>
              <a:off x="2198240" y="4263413"/>
              <a:ext cx="63000" cy="7200"/>
            </p14:xfrm>
          </p:contentPart>
        </mc:Choice>
        <mc:Fallback xmlns="">
          <p:pic>
            <p:nvPicPr>
              <p:cNvPr id="57" name="Ink 56">
                <a:extLst>
                  <a:ext uri="{FF2B5EF4-FFF2-40B4-BE49-F238E27FC236}">
                    <a16:creationId xmlns:a16="http://schemas.microsoft.com/office/drawing/2014/main" id="{CF0A0A22-1E68-43F1-85A8-D75D904E1F4D}"/>
                  </a:ext>
                </a:extLst>
              </p:cNvPr>
              <p:cNvPicPr/>
              <p:nvPr/>
            </p:nvPicPr>
            <p:blipFill>
              <a:blip r:embed="rId38"/>
              <a:stretch>
                <a:fillRect/>
              </a:stretch>
            </p:blipFill>
            <p:spPr>
              <a:xfrm>
                <a:off x="2189240" y="4254773"/>
                <a:ext cx="806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8" name="Ink 57">
                <a:extLst>
                  <a:ext uri="{FF2B5EF4-FFF2-40B4-BE49-F238E27FC236}">
                    <a16:creationId xmlns:a16="http://schemas.microsoft.com/office/drawing/2014/main" id="{70560D2E-D424-4C4D-8421-AFFAFCD32645}"/>
                  </a:ext>
                </a:extLst>
              </p14:cNvPr>
              <p14:cNvContentPartPr/>
              <p14:nvPr/>
            </p14:nvContentPartPr>
            <p14:xfrm>
              <a:off x="6729200" y="4222013"/>
              <a:ext cx="360" cy="360"/>
            </p14:xfrm>
          </p:contentPart>
        </mc:Choice>
        <mc:Fallback xmlns="">
          <p:pic>
            <p:nvPicPr>
              <p:cNvPr id="58" name="Ink 57">
                <a:extLst>
                  <a:ext uri="{FF2B5EF4-FFF2-40B4-BE49-F238E27FC236}">
                    <a16:creationId xmlns:a16="http://schemas.microsoft.com/office/drawing/2014/main" id="{70560D2E-D424-4C4D-8421-AFFAFCD32645}"/>
                  </a:ext>
                </a:extLst>
              </p:cNvPr>
              <p:cNvPicPr/>
              <p:nvPr/>
            </p:nvPicPr>
            <p:blipFill>
              <a:blip r:embed="rId5"/>
              <a:stretch>
                <a:fillRect/>
              </a:stretch>
            </p:blipFill>
            <p:spPr>
              <a:xfrm>
                <a:off x="6720200" y="42130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5" name="Ink 144">
                <a:extLst>
                  <a:ext uri="{FF2B5EF4-FFF2-40B4-BE49-F238E27FC236}">
                    <a16:creationId xmlns:a16="http://schemas.microsoft.com/office/drawing/2014/main" id="{D478D896-6B62-4532-BBC8-BAF56E85B4A9}"/>
                  </a:ext>
                </a:extLst>
              </p14:cNvPr>
              <p14:cNvContentPartPr/>
              <p14:nvPr/>
            </p14:nvContentPartPr>
            <p14:xfrm>
              <a:off x="6446240" y="4282853"/>
              <a:ext cx="9360" cy="5040"/>
            </p14:xfrm>
          </p:contentPart>
        </mc:Choice>
        <mc:Fallback xmlns="">
          <p:pic>
            <p:nvPicPr>
              <p:cNvPr id="145" name="Ink 144">
                <a:extLst>
                  <a:ext uri="{FF2B5EF4-FFF2-40B4-BE49-F238E27FC236}">
                    <a16:creationId xmlns:a16="http://schemas.microsoft.com/office/drawing/2014/main" id="{D478D896-6B62-4532-BBC8-BAF56E85B4A9}"/>
                  </a:ext>
                </a:extLst>
              </p:cNvPr>
              <p:cNvPicPr/>
              <p:nvPr/>
            </p:nvPicPr>
            <p:blipFill>
              <a:blip r:embed="rId43"/>
              <a:stretch>
                <a:fillRect/>
              </a:stretch>
            </p:blipFill>
            <p:spPr>
              <a:xfrm>
                <a:off x="6437600" y="4274213"/>
                <a:ext cx="270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46" name="Ink 145">
                <a:extLst>
                  <a:ext uri="{FF2B5EF4-FFF2-40B4-BE49-F238E27FC236}">
                    <a16:creationId xmlns:a16="http://schemas.microsoft.com/office/drawing/2014/main" id="{4A201F44-1946-4289-AA43-1192E9F532FF}"/>
                  </a:ext>
                </a:extLst>
              </p14:cNvPr>
              <p14:cNvContentPartPr/>
              <p14:nvPr/>
            </p14:nvContentPartPr>
            <p14:xfrm>
              <a:off x="6047000" y="4468613"/>
              <a:ext cx="27360" cy="14040"/>
            </p14:xfrm>
          </p:contentPart>
        </mc:Choice>
        <mc:Fallback xmlns="">
          <p:pic>
            <p:nvPicPr>
              <p:cNvPr id="146" name="Ink 145">
                <a:extLst>
                  <a:ext uri="{FF2B5EF4-FFF2-40B4-BE49-F238E27FC236}">
                    <a16:creationId xmlns:a16="http://schemas.microsoft.com/office/drawing/2014/main" id="{4A201F44-1946-4289-AA43-1192E9F532FF}"/>
                  </a:ext>
                </a:extLst>
              </p:cNvPr>
              <p:cNvPicPr/>
              <p:nvPr/>
            </p:nvPicPr>
            <p:blipFill>
              <a:blip r:embed="rId45"/>
              <a:stretch>
                <a:fillRect/>
              </a:stretch>
            </p:blipFill>
            <p:spPr>
              <a:xfrm>
                <a:off x="6038000" y="4459613"/>
                <a:ext cx="45000" cy="316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pic>
        <p:nvPicPr>
          <p:cNvPr id="145" name="Google Shape;145;p21"/>
          <p:cNvPicPr preferRelativeResize="0">
            <a:picLocks noGrp="1"/>
          </p:cNvPicPr>
          <p:nvPr>
            <p:ph idx="1"/>
          </p:nvPr>
        </p:nvPicPr>
        <p:blipFill rotWithShape="1">
          <a:blip r:embed="rId3">
            <a:alphaModFix/>
          </a:blip>
          <a:stretch/>
        </p:blipFill>
        <p:spPr>
          <a:xfrm>
            <a:off x="2817019" y="3820319"/>
            <a:ext cx="1933575" cy="561975"/>
          </a:xfrm>
          <a:prstGeom prst="rect">
            <a:avLst/>
          </a:prstGeom>
          <a:noFill/>
          <a:ln>
            <a:noFill/>
          </a:ln>
        </p:spPr>
      </p:pic>
      <p:sp>
        <p:nvSpPr>
          <p:cNvPr id="146" name="Google Shape;146;p21"/>
          <p:cNvSpPr txBox="1"/>
          <p:nvPr/>
        </p:nvSpPr>
        <p:spPr>
          <a:xfrm>
            <a:off x="2627040" y="3308791"/>
            <a:ext cx="4155305"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alatino Linotype"/>
                <a:ea typeface="Palatino Linotype"/>
                <a:cs typeface="Palatino Linotype"/>
                <a:sym typeface="Palatino Linotype"/>
              </a:rPr>
              <a:t>Maximum throughput occurs at G=0.5,</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S=1/2e</a:t>
            </a:r>
            <a:endParaRPr lang="en-US" dirty="0">
              <a:sym typeface="Palatino Linotype"/>
            </a:endParaRPr>
          </a:p>
          <a:p>
            <a:pPr marL="0" marR="0" lvl="0" indent="0" algn="l" rtl="0">
              <a:spcBef>
                <a:spcPts val="0"/>
              </a:spcBef>
              <a:spcAft>
                <a:spcPts val="0"/>
              </a:spcAft>
              <a:buNone/>
            </a:pPr>
            <a:endParaRPr lang="en-US"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endParaRPr lang="en-US"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S=0.184</a:t>
            </a:r>
          </a:p>
          <a:p>
            <a:pPr marL="0" marR="0" lvl="0" indent="0" algn="l" rtl="0">
              <a:spcBef>
                <a:spcPts val="0"/>
              </a:spcBef>
              <a:spcAft>
                <a:spcPts val="0"/>
              </a:spcAft>
              <a:buNone/>
            </a:pP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=&gt; 18%</a:t>
            </a:r>
            <a:endParaRPr sz="1800" dirty="0">
              <a:solidFill>
                <a:schemeClr val="dk1"/>
              </a:solidFill>
              <a:latin typeface="Palatino Linotype"/>
              <a:ea typeface="Palatino Linotype"/>
              <a:cs typeface="Palatino Linotype"/>
              <a:sym typeface="Palatino Linotype"/>
            </a:endParaRPr>
          </a:p>
        </p:txBody>
      </p:sp>
      <mc:AlternateContent xmlns:mc="http://schemas.openxmlformats.org/markup-compatibility/2006" xmlns:p14="http://schemas.microsoft.com/office/powerpoint/2010/main">
        <mc:Choice Requires="p14">
          <p:contentPart p14:bwMode="auto" r:id="rId4">
            <p14:nvContentPartPr>
              <p14:cNvPr id="36" name="Ink 35">
                <a:extLst>
                  <a:ext uri="{FF2B5EF4-FFF2-40B4-BE49-F238E27FC236}">
                    <a16:creationId xmlns:a16="http://schemas.microsoft.com/office/drawing/2014/main" id="{FBB77444-0374-49D8-A939-7CD2CD0D6DD1}"/>
                  </a:ext>
                </a:extLst>
              </p14:cNvPr>
              <p14:cNvContentPartPr/>
              <p14:nvPr/>
            </p14:nvContentPartPr>
            <p14:xfrm>
              <a:off x="8093600" y="6059747"/>
              <a:ext cx="33480" cy="31320"/>
            </p14:xfrm>
          </p:contentPart>
        </mc:Choice>
        <mc:Fallback xmlns="">
          <p:pic>
            <p:nvPicPr>
              <p:cNvPr id="36" name="Ink 35">
                <a:extLst>
                  <a:ext uri="{FF2B5EF4-FFF2-40B4-BE49-F238E27FC236}">
                    <a16:creationId xmlns:a16="http://schemas.microsoft.com/office/drawing/2014/main" id="{FBB77444-0374-49D8-A939-7CD2CD0D6DD1}"/>
                  </a:ext>
                </a:extLst>
              </p:cNvPr>
              <p:cNvPicPr/>
              <p:nvPr/>
            </p:nvPicPr>
            <p:blipFill>
              <a:blip r:embed="rId59"/>
              <a:stretch>
                <a:fillRect/>
              </a:stretch>
            </p:blipFill>
            <p:spPr>
              <a:xfrm>
                <a:off x="8084600" y="6051107"/>
                <a:ext cx="51120" cy="489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52" name="Google Shape;152;p2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153" name="Google Shape;153;p22"/>
          <p:cNvSpPr txBox="1"/>
          <p:nvPr/>
        </p:nvSpPr>
        <p:spPr>
          <a:xfrm>
            <a:off x="287338" y="5715000"/>
            <a:ext cx="8856662" cy="838200"/>
          </a:xfrm>
          <a:prstGeom prst="rect">
            <a:avLst/>
          </a:prstGeom>
          <a:noFill/>
          <a:ln>
            <a:noFill/>
          </a:ln>
        </p:spPr>
        <p:txBody>
          <a:bodyPr spcFirstLastPara="1" wrap="square" lIns="91425" tIns="45700" rIns="91425" bIns="45700" anchor="t" anchorCtr="0">
            <a:normAutofit/>
          </a:bodyPr>
          <a:lstStyle/>
          <a:p>
            <a:pPr marL="63500" marR="0" lvl="0" indent="-63500" algn="ctr" rtl="0">
              <a:spcBef>
                <a:spcPts val="0"/>
              </a:spcBef>
              <a:spcAft>
                <a:spcPts val="0"/>
              </a:spcAft>
              <a:buClr>
                <a:srgbClr val="7F7F7F"/>
              </a:buClr>
              <a:buSzPts val="2400"/>
              <a:buFont typeface="Arial"/>
              <a:buNone/>
            </a:pPr>
            <a:r>
              <a:rPr lang="en-US" sz="2400">
                <a:solidFill>
                  <a:srgbClr val="7F7F7F"/>
                </a:solidFill>
                <a:latin typeface="Arial"/>
                <a:ea typeface="Arial"/>
                <a:cs typeface="Arial"/>
                <a:sym typeface="Arial"/>
              </a:rPr>
              <a:t>Vulnerable period for the shaded frame.</a:t>
            </a:r>
            <a:endParaRPr/>
          </a:p>
        </p:txBody>
      </p:sp>
      <p:pic>
        <p:nvPicPr>
          <p:cNvPr id="154" name="Google Shape;154;p22"/>
          <p:cNvPicPr preferRelativeResize="0"/>
          <p:nvPr/>
        </p:nvPicPr>
        <p:blipFill rotWithShape="1">
          <a:blip r:embed="rId3">
            <a:alphaModFix/>
          </a:blip>
          <a:srcRect t="1851"/>
          <a:stretch/>
        </p:blipFill>
        <p:spPr>
          <a:xfrm>
            <a:off x="871538" y="1295400"/>
            <a:ext cx="7129462" cy="4038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idx="1"/>
          </p:nvPr>
        </p:nvSpPr>
        <p:spPr>
          <a:xfrm>
            <a:off x="457200" y="476672"/>
            <a:ext cx="8229600" cy="6192688"/>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800"/>
              <a:buFont typeface="Noto Sans Symbols"/>
              <a:buChar char="❑"/>
            </a:pPr>
            <a:r>
              <a:rPr lang="en-US" sz="2800" b="1"/>
              <a:t>Slotted ALOHA</a:t>
            </a:r>
            <a:endParaRPr/>
          </a:p>
          <a:p>
            <a:pPr marL="342900" lvl="0" indent="-342900" algn="just" rtl="0">
              <a:spcBef>
                <a:spcPts val="480"/>
              </a:spcBef>
              <a:spcAft>
                <a:spcPts val="0"/>
              </a:spcAft>
              <a:buClr>
                <a:srgbClr val="7F7F7F"/>
              </a:buClr>
              <a:buSzPts val="2400"/>
              <a:buChar char="•"/>
            </a:pPr>
            <a:r>
              <a:rPr lang="en-US"/>
              <a:t>Roberts(1972) published a method for doubling the capacity of an ALOHA System.</a:t>
            </a:r>
            <a:endParaRPr/>
          </a:p>
          <a:p>
            <a:pPr marL="342900" lvl="0" indent="-342900" algn="just" rtl="0">
              <a:spcBef>
                <a:spcPts val="480"/>
              </a:spcBef>
              <a:spcAft>
                <a:spcPts val="0"/>
              </a:spcAft>
              <a:buClr>
                <a:srgbClr val="7F7F7F"/>
              </a:buClr>
              <a:buSzPts val="2400"/>
              <a:buChar char="•"/>
            </a:pPr>
            <a:r>
              <a:rPr lang="en-US"/>
              <a:t>His proposal was to divide time into discrete intervals called </a:t>
            </a:r>
            <a:r>
              <a:rPr lang="en-US" b="1"/>
              <a:t>slots; </a:t>
            </a:r>
            <a:r>
              <a:rPr lang="en-US"/>
              <a:t>each interval corresponding to one frame.</a:t>
            </a:r>
            <a:endParaRPr b="1"/>
          </a:p>
          <a:p>
            <a:pPr marL="342900" lvl="0" indent="-342900" algn="just" rtl="0">
              <a:spcBef>
                <a:spcPts val="480"/>
              </a:spcBef>
              <a:spcAft>
                <a:spcPts val="0"/>
              </a:spcAft>
              <a:buClr>
                <a:srgbClr val="7F7F7F"/>
              </a:buClr>
              <a:buSzPts val="2400"/>
              <a:buChar char="•"/>
            </a:pPr>
            <a:r>
              <a:rPr lang="en-US"/>
              <a:t>This approach requires the users to agree on slot boundaries.</a:t>
            </a:r>
            <a:endParaRPr/>
          </a:p>
          <a:p>
            <a:pPr marL="342900" lvl="0" indent="-342900" algn="just" rtl="0">
              <a:spcBef>
                <a:spcPts val="480"/>
              </a:spcBef>
              <a:spcAft>
                <a:spcPts val="0"/>
              </a:spcAft>
              <a:buClr>
                <a:srgbClr val="7F7F7F"/>
              </a:buClr>
              <a:buSzPts val="2400"/>
              <a:buChar char="•"/>
            </a:pPr>
            <a:r>
              <a:rPr lang="en-US"/>
              <a:t>Needs a special station that emits a pip at the start of each interval, like a clock.</a:t>
            </a:r>
            <a:endParaRPr/>
          </a:p>
          <a:p>
            <a:pPr marL="342900" lvl="0" indent="-342900" algn="just" rtl="0">
              <a:spcBef>
                <a:spcPts val="480"/>
              </a:spcBef>
              <a:spcAft>
                <a:spcPts val="0"/>
              </a:spcAft>
              <a:buClr>
                <a:srgbClr val="7F7F7F"/>
              </a:buClr>
              <a:buSzPts val="2400"/>
              <a:buChar char="•"/>
            </a:pPr>
            <a:r>
              <a:rPr lang="en-US"/>
              <a:t>So station cant sends the frame when its ready, but needs to wait for the beginning of the next slot. This halves the vulnerable period.</a:t>
            </a:r>
            <a:endParaRPr/>
          </a:p>
          <a:p>
            <a:pPr marL="342900" lvl="0" indent="-190500" algn="just" rtl="0">
              <a:spcBef>
                <a:spcPts val="480"/>
              </a:spcBef>
              <a:spcAft>
                <a:spcPts val="0"/>
              </a:spcAft>
              <a:buClr>
                <a:srgbClr val="7F7F7F"/>
              </a:buClr>
              <a:buSzPts val="2400"/>
              <a:buNone/>
            </a:pPr>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7A235BE-B750-4AF4-869B-CA8EEE284F7F}"/>
                  </a:ext>
                </a:extLst>
              </p14:cNvPr>
              <p14:cNvContentPartPr/>
              <p14:nvPr/>
            </p14:nvContentPartPr>
            <p14:xfrm>
              <a:off x="3259160" y="3704267"/>
              <a:ext cx="127080" cy="48600"/>
            </p14:xfrm>
          </p:contentPart>
        </mc:Choice>
        <mc:Fallback xmlns="">
          <p:pic>
            <p:nvPicPr>
              <p:cNvPr id="3" name="Ink 2">
                <a:extLst>
                  <a:ext uri="{FF2B5EF4-FFF2-40B4-BE49-F238E27FC236}">
                    <a16:creationId xmlns:a16="http://schemas.microsoft.com/office/drawing/2014/main" id="{B7A235BE-B750-4AF4-869B-CA8EEE284F7F}"/>
                  </a:ext>
                </a:extLst>
              </p:cNvPr>
              <p:cNvPicPr/>
              <p:nvPr/>
            </p:nvPicPr>
            <p:blipFill>
              <a:blip r:embed="rId6"/>
              <a:stretch>
                <a:fillRect/>
              </a:stretch>
            </p:blipFill>
            <p:spPr>
              <a:xfrm>
                <a:off x="3250520" y="3695267"/>
                <a:ext cx="144720" cy="6624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pic>
        <p:nvPicPr>
          <p:cNvPr id="165" name="Google Shape;165;p24"/>
          <p:cNvPicPr preferRelativeResize="0">
            <a:picLocks noGrp="1"/>
          </p:cNvPicPr>
          <p:nvPr>
            <p:ph idx="1"/>
          </p:nvPr>
        </p:nvPicPr>
        <p:blipFill rotWithShape="1">
          <a:blip r:embed="rId3">
            <a:alphaModFix/>
          </a:blip>
          <a:stretch/>
        </p:blipFill>
        <p:spPr>
          <a:xfrm>
            <a:off x="2031206" y="3796506"/>
            <a:ext cx="3505200" cy="609600"/>
          </a:xfrm>
          <a:prstGeom prst="rect">
            <a:avLst/>
          </a:prstGeom>
          <a:noFill/>
          <a:ln>
            <a:noFill/>
          </a:ln>
        </p:spPr>
      </p:pic>
      <p:sp>
        <p:nvSpPr>
          <p:cNvPr id="166" name="Google Shape;166;p24"/>
          <p:cNvSpPr txBox="1"/>
          <p:nvPr/>
        </p:nvSpPr>
        <p:spPr>
          <a:xfrm>
            <a:off x="2627040" y="3308791"/>
            <a:ext cx="4182555"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Maximum throughput occurs at G=1,</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S=1/e</a:t>
            </a:r>
            <a:endParaRPr dirty="0"/>
          </a:p>
          <a:p>
            <a:pPr marL="0" marR="0" lvl="0" indent="0" algn="l" rtl="0">
              <a:spcBef>
                <a:spcPts val="0"/>
              </a:spcBef>
              <a:spcAft>
                <a:spcPts val="0"/>
              </a:spcAft>
              <a:buNone/>
            </a:pPr>
            <a:endParaRPr lang="en-US"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endParaRPr lang="en-US"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S=0.368</a:t>
            </a:r>
            <a:endParaRPr dirty="0"/>
          </a:p>
          <a:p>
            <a:pPr marL="285750" marR="0" lvl="0" indent="-285750" algn="l" rtl="0">
              <a:spcBef>
                <a:spcPts val="0"/>
              </a:spcBef>
              <a:spcAft>
                <a:spcPts val="0"/>
              </a:spcAft>
              <a:buClr>
                <a:schemeClr val="dk1"/>
              </a:buClr>
              <a:buSzPts val="1800"/>
              <a:buFont typeface="Noto Sans Symbols"/>
              <a:buChar char="⇒"/>
            </a:pPr>
            <a:r>
              <a:rPr lang="en-US" sz="1800" dirty="0">
                <a:solidFill>
                  <a:schemeClr val="dk1"/>
                </a:solidFill>
                <a:latin typeface="Palatino Linotype"/>
                <a:ea typeface="Palatino Linotype"/>
                <a:cs typeface="Palatino Linotype"/>
                <a:sym typeface="Palatino Linotype"/>
              </a:rPr>
              <a:t>37%</a:t>
            </a:r>
            <a:endParaRPr dirty="0"/>
          </a:p>
          <a:p>
            <a:pPr marL="285750" marR="0" lvl="0" indent="-285750" algn="l" rtl="0">
              <a:spcBef>
                <a:spcPts val="0"/>
              </a:spcBef>
              <a:spcAft>
                <a:spcPts val="0"/>
              </a:spcAft>
              <a:buClr>
                <a:schemeClr val="dk1"/>
              </a:buClr>
              <a:buSzPts val="1800"/>
              <a:buFont typeface="Noto Sans Symbols"/>
              <a:buChar char="⇒"/>
            </a:pPr>
            <a:r>
              <a:rPr lang="en-US" sz="1800" dirty="0">
                <a:solidFill>
                  <a:schemeClr val="dk1"/>
                </a:solidFill>
                <a:latin typeface="Palatino Linotype"/>
                <a:ea typeface="Palatino Linotype"/>
                <a:cs typeface="Palatino Linotype"/>
                <a:sym typeface="Palatino Linotype"/>
              </a:rPr>
              <a:t>[37% idle, 37%success, 26%collision]</a:t>
            </a:r>
            <a:endParaRPr sz="1800" dirty="0">
              <a:solidFill>
                <a:schemeClr val="dk1"/>
              </a:solidFill>
              <a:latin typeface="Palatino Linotype"/>
              <a:ea typeface="Palatino Linotype"/>
              <a:cs typeface="Palatino Linotype"/>
              <a:sym typeface="Palatino Linotype"/>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7FA28FD-0F06-443E-97F5-CC61B6EB3B6B}"/>
                  </a:ext>
                </a:extLst>
              </p14:cNvPr>
              <p14:cNvContentPartPr/>
              <p14:nvPr/>
            </p14:nvContentPartPr>
            <p14:xfrm>
              <a:off x="3098600" y="4766267"/>
              <a:ext cx="27720" cy="64800"/>
            </p14:xfrm>
          </p:contentPart>
        </mc:Choice>
        <mc:Fallback xmlns="">
          <p:pic>
            <p:nvPicPr>
              <p:cNvPr id="2" name="Ink 1">
                <a:extLst>
                  <a:ext uri="{FF2B5EF4-FFF2-40B4-BE49-F238E27FC236}">
                    <a16:creationId xmlns:a16="http://schemas.microsoft.com/office/drawing/2014/main" id="{B7FA28FD-0F06-443E-97F5-CC61B6EB3B6B}"/>
                  </a:ext>
                </a:extLst>
              </p:cNvPr>
              <p:cNvPicPr/>
              <p:nvPr/>
            </p:nvPicPr>
            <p:blipFill>
              <a:blip r:embed="rId5"/>
              <a:stretch>
                <a:fillRect/>
              </a:stretch>
            </p:blipFill>
            <p:spPr>
              <a:xfrm>
                <a:off x="3089960" y="4757267"/>
                <a:ext cx="45360" cy="8244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72" name="Google Shape;172;p2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173" name="Google Shape;173;p25"/>
          <p:cNvSpPr txBox="1"/>
          <p:nvPr/>
        </p:nvSpPr>
        <p:spPr>
          <a:xfrm>
            <a:off x="287338" y="5715000"/>
            <a:ext cx="8856662" cy="838200"/>
          </a:xfrm>
          <a:prstGeom prst="rect">
            <a:avLst/>
          </a:prstGeom>
          <a:noFill/>
          <a:ln>
            <a:noFill/>
          </a:ln>
        </p:spPr>
        <p:txBody>
          <a:bodyPr spcFirstLastPara="1" wrap="square" lIns="91425" tIns="45700" rIns="91425" bIns="45700" anchor="t" anchorCtr="0">
            <a:normAutofit/>
          </a:bodyPr>
          <a:lstStyle/>
          <a:p>
            <a:pPr marL="342900" marR="0" lvl="0" indent="-342900" algn="ctr" rtl="0">
              <a:spcBef>
                <a:spcPts val="0"/>
              </a:spcBef>
              <a:spcAft>
                <a:spcPts val="0"/>
              </a:spcAft>
              <a:buClr>
                <a:srgbClr val="7F7F7F"/>
              </a:buClr>
              <a:buSzPts val="2400"/>
              <a:buFont typeface="Arial"/>
              <a:buNone/>
            </a:pPr>
            <a:r>
              <a:rPr lang="en-US" sz="2400">
                <a:solidFill>
                  <a:srgbClr val="7F7F7F"/>
                </a:solidFill>
                <a:latin typeface="Arial"/>
                <a:ea typeface="Arial"/>
                <a:cs typeface="Arial"/>
                <a:sym typeface="Arial"/>
              </a:rPr>
              <a:t>Throughput versus offered traffic for ALOHA systems.</a:t>
            </a:r>
            <a:endParaRPr/>
          </a:p>
        </p:txBody>
      </p:sp>
      <p:pic>
        <p:nvPicPr>
          <p:cNvPr id="174" name="Google Shape;174;p25"/>
          <p:cNvPicPr preferRelativeResize="0"/>
          <p:nvPr/>
        </p:nvPicPr>
        <p:blipFill rotWithShape="1">
          <a:blip r:embed="rId3">
            <a:alphaModFix/>
          </a:blip>
          <a:srcRect/>
          <a:stretch/>
        </p:blipFill>
        <p:spPr>
          <a:xfrm>
            <a:off x="752475" y="1235075"/>
            <a:ext cx="7553325" cy="39179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D507BB4-9456-450D-A4E4-8CCFB5D7FA57}"/>
                  </a:ext>
                </a:extLst>
              </p14:cNvPr>
              <p14:cNvContentPartPr/>
              <p14:nvPr/>
            </p14:nvContentPartPr>
            <p14:xfrm>
              <a:off x="2998160" y="3143387"/>
              <a:ext cx="10440" cy="214560"/>
            </p14:xfrm>
          </p:contentPart>
        </mc:Choice>
        <mc:Fallback xmlns="">
          <p:pic>
            <p:nvPicPr>
              <p:cNvPr id="2" name="Ink 1">
                <a:extLst>
                  <a:ext uri="{FF2B5EF4-FFF2-40B4-BE49-F238E27FC236}">
                    <a16:creationId xmlns:a16="http://schemas.microsoft.com/office/drawing/2014/main" id="{FD507BB4-9456-450D-A4E4-8CCFB5D7FA57}"/>
                  </a:ext>
                </a:extLst>
              </p:cNvPr>
              <p:cNvPicPr/>
              <p:nvPr/>
            </p:nvPicPr>
            <p:blipFill>
              <a:blip r:embed="rId5"/>
              <a:stretch>
                <a:fillRect/>
              </a:stretch>
            </p:blipFill>
            <p:spPr>
              <a:xfrm>
                <a:off x="2989160" y="3134387"/>
                <a:ext cx="28080" cy="2322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a:spLocks noGrp="1"/>
          </p:cNvSpPr>
          <p:nvPr>
            <p:ph idx="1"/>
          </p:nvPr>
        </p:nvSpPr>
        <p:spPr>
          <a:xfrm>
            <a:off x="457200" y="620688"/>
            <a:ext cx="8229600" cy="6048672"/>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Font typeface="Noto Sans Symbols"/>
              <a:buChar char="❑"/>
            </a:pPr>
            <a:r>
              <a:rPr lang="en-US" b="1"/>
              <a:t>Carrier Sense Multiple Access Protocols:</a:t>
            </a:r>
            <a:r>
              <a:rPr lang="en-US"/>
              <a:t> Protocols in which the stations listen for a  carrier (i.e transmission) and act accordingly are called </a:t>
            </a:r>
            <a:r>
              <a:rPr lang="en-US" b="1"/>
              <a:t>carrier sense protocols.</a:t>
            </a:r>
            <a:endParaRPr/>
          </a:p>
          <a:p>
            <a:pPr marL="0" lvl="0" indent="0" algn="just" rtl="0">
              <a:spcBef>
                <a:spcPts val="480"/>
              </a:spcBef>
              <a:spcAft>
                <a:spcPts val="0"/>
              </a:spcAft>
              <a:buClr>
                <a:srgbClr val="7F7F7F"/>
              </a:buClr>
              <a:buSzPts val="2400"/>
              <a:buNone/>
            </a:pPr>
            <a:endParaRPr b="1"/>
          </a:p>
          <a:p>
            <a:pPr marL="457200" lvl="0" indent="-457200" algn="just" rtl="0">
              <a:spcBef>
                <a:spcPts val="480"/>
              </a:spcBef>
              <a:spcAft>
                <a:spcPts val="0"/>
              </a:spcAft>
              <a:buClr>
                <a:srgbClr val="7F7F7F"/>
              </a:buClr>
              <a:buSzPts val="2400"/>
              <a:buAutoNum type="arabicPeriod"/>
            </a:pPr>
            <a:r>
              <a:rPr lang="en-US" b="1"/>
              <a:t>Persistent and Nonpersistent CSMA</a:t>
            </a:r>
            <a:endParaRPr/>
          </a:p>
          <a:p>
            <a:pPr marL="514350" lvl="0" indent="-514350" algn="just" rtl="0">
              <a:spcBef>
                <a:spcPts val="480"/>
              </a:spcBef>
              <a:spcAft>
                <a:spcPts val="0"/>
              </a:spcAft>
              <a:buClr>
                <a:srgbClr val="7F7F7F"/>
              </a:buClr>
              <a:buSzPts val="2400"/>
              <a:buAutoNum type="romanLcPeriod"/>
            </a:pPr>
            <a:r>
              <a:rPr lang="en-US" b="1"/>
              <a:t>1-persistent: </a:t>
            </a:r>
            <a:endParaRPr/>
          </a:p>
          <a:p>
            <a:pPr marL="0" lvl="0" indent="0" algn="just" rtl="0">
              <a:spcBef>
                <a:spcPts val="480"/>
              </a:spcBef>
              <a:spcAft>
                <a:spcPts val="0"/>
              </a:spcAft>
              <a:buClr>
                <a:srgbClr val="7F7F7F"/>
              </a:buClr>
              <a:buSzPts val="2400"/>
              <a:buNone/>
            </a:pPr>
            <a:r>
              <a:rPr lang="en-US" b="1"/>
              <a:t>	</a:t>
            </a:r>
            <a:r>
              <a:rPr lang="en-US"/>
              <a:t>When a station has data to send, it first listens to the ch. to see if anyone else is transmitting at that moment.  </a:t>
            </a:r>
            <a:r>
              <a:rPr lang="en-US" b="1"/>
              <a:t>If ch is idle</a:t>
            </a:r>
            <a:r>
              <a:rPr lang="en-US"/>
              <a:t>, the stations send the data. Or else waits until its becomes idle.</a:t>
            </a:r>
            <a:endParaRPr/>
          </a:p>
          <a:p>
            <a:pPr marL="0" lvl="0" indent="0" algn="just" rtl="0">
              <a:spcBef>
                <a:spcPts val="480"/>
              </a:spcBef>
              <a:spcAft>
                <a:spcPts val="0"/>
              </a:spcAft>
              <a:buClr>
                <a:srgbClr val="7F7F7F"/>
              </a:buClr>
              <a:buSzPts val="2400"/>
              <a:buNone/>
            </a:pPr>
            <a:r>
              <a:rPr lang="en-US" b="1"/>
              <a:t>      If a collision occurs, </a:t>
            </a:r>
            <a:r>
              <a:rPr lang="en-US"/>
              <a:t>the station waits a random amount of time and starts all over again. The protocol is called as 1-persistent since the station transmits with probability of 1 when it finds ch is idle</a:t>
            </a:r>
            <a:r>
              <a:rPr lang="en-US" b="1"/>
              <a:t>.</a:t>
            </a:r>
            <a:endParaRPr/>
          </a:p>
          <a:p>
            <a:pPr marL="514350" lvl="0" indent="-361950" algn="just" rtl="0">
              <a:spcBef>
                <a:spcPts val="480"/>
              </a:spcBef>
              <a:spcAft>
                <a:spcPts val="0"/>
              </a:spcAft>
              <a:buClr>
                <a:srgbClr val="7F7F7F"/>
              </a:buClr>
              <a:buSzPts val="2400"/>
              <a:buNone/>
            </a:pPr>
            <a:endParaRPr b="1"/>
          </a:p>
        </p:txBody>
      </p:sp>
      <p:grpSp>
        <p:nvGrpSpPr>
          <p:cNvPr id="4" name="Group 3">
            <a:extLst>
              <a:ext uri="{FF2B5EF4-FFF2-40B4-BE49-F238E27FC236}">
                <a16:creationId xmlns:a16="http://schemas.microsoft.com/office/drawing/2014/main" id="{CAB50AEB-407D-42FC-8D58-E8EFC7B4C9A1}"/>
              </a:ext>
            </a:extLst>
          </p:cNvPr>
          <p:cNvGrpSpPr/>
          <p:nvPr/>
        </p:nvGrpSpPr>
        <p:grpSpPr>
          <a:xfrm>
            <a:off x="1367360" y="4853747"/>
            <a:ext cx="61920" cy="14400"/>
            <a:chOff x="1367360" y="4853747"/>
            <a:chExt cx="61920" cy="1440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DE7355D-97A7-4528-BA12-9EC3EA50652B}"/>
                    </a:ext>
                  </a:extLst>
                </p14:cNvPr>
                <p14:cNvContentPartPr/>
                <p14:nvPr/>
              </p14:nvContentPartPr>
              <p14:xfrm>
                <a:off x="1398320" y="4863107"/>
                <a:ext cx="30960" cy="5040"/>
              </p14:xfrm>
            </p:contentPart>
          </mc:Choice>
          <mc:Fallback xmlns="">
            <p:pic>
              <p:nvPicPr>
                <p:cNvPr id="2" name="Ink 1">
                  <a:extLst>
                    <a:ext uri="{FF2B5EF4-FFF2-40B4-BE49-F238E27FC236}">
                      <a16:creationId xmlns:a16="http://schemas.microsoft.com/office/drawing/2014/main" id="{6DE7355D-97A7-4528-BA12-9EC3EA50652B}"/>
                    </a:ext>
                  </a:extLst>
                </p:cNvPr>
                <p:cNvPicPr/>
                <p:nvPr/>
              </p:nvPicPr>
              <p:blipFill>
                <a:blip r:embed="rId4"/>
                <a:stretch>
                  <a:fillRect/>
                </a:stretch>
              </p:blipFill>
              <p:spPr>
                <a:xfrm>
                  <a:off x="1389320" y="4854107"/>
                  <a:ext cx="48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BA4F1796-AA75-4543-A36E-D4D96BDF5D4E}"/>
                    </a:ext>
                  </a:extLst>
                </p14:cNvPr>
                <p14:cNvContentPartPr/>
                <p14:nvPr/>
              </p14:nvContentPartPr>
              <p14:xfrm>
                <a:off x="1367360" y="4853747"/>
                <a:ext cx="15840" cy="6120"/>
              </p14:xfrm>
            </p:contentPart>
          </mc:Choice>
          <mc:Fallback xmlns="">
            <p:pic>
              <p:nvPicPr>
                <p:cNvPr id="3" name="Ink 2">
                  <a:extLst>
                    <a:ext uri="{FF2B5EF4-FFF2-40B4-BE49-F238E27FC236}">
                      <a16:creationId xmlns:a16="http://schemas.microsoft.com/office/drawing/2014/main" id="{BA4F1796-AA75-4543-A36E-D4D96BDF5D4E}"/>
                    </a:ext>
                  </a:extLst>
                </p:cNvPr>
                <p:cNvPicPr/>
                <p:nvPr/>
              </p:nvPicPr>
              <p:blipFill>
                <a:blip r:embed="rId6"/>
                <a:stretch>
                  <a:fillRect/>
                </a:stretch>
              </p:blipFill>
              <p:spPr>
                <a:xfrm>
                  <a:off x="1358720" y="4845107"/>
                  <a:ext cx="33480" cy="23760"/>
                </a:xfrm>
                <a:prstGeom prst="rect">
                  <a:avLst/>
                </a:prstGeom>
              </p:spPr>
            </p:pic>
          </mc:Fallback>
        </mc:AlternateContent>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a:spLocks noGrp="1"/>
          </p:cNvSpPr>
          <p:nvPr>
            <p:ph idx="1"/>
          </p:nvPr>
        </p:nvSpPr>
        <p:spPr>
          <a:xfrm>
            <a:off x="457200" y="332656"/>
            <a:ext cx="8229600" cy="6336704"/>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rgbClr val="7F7F7F"/>
              </a:buClr>
              <a:buSzPct val="100000"/>
              <a:buNone/>
            </a:pPr>
            <a:r>
              <a:rPr lang="en-US" b="1" dirty="0"/>
              <a:t>ii. Nonpersistent: </a:t>
            </a:r>
            <a:endParaRPr dirty="0"/>
          </a:p>
          <a:p>
            <a:pPr marL="0" lvl="0" indent="0" algn="just" rtl="0">
              <a:spcBef>
                <a:spcPts val="444"/>
              </a:spcBef>
              <a:spcAft>
                <a:spcPts val="0"/>
              </a:spcAft>
              <a:buClr>
                <a:srgbClr val="7F7F7F"/>
              </a:buClr>
              <a:buSzPct val="100000"/>
              <a:buNone/>
            </a:pPr>
            <a:r>
              <a:rPr lang="en-US" b="1" dirty="0"/>
              <a:t>	</a:t>
            </a:r>
            <a:r>
              <a:rPr lang="en-US" dirty="0"/>
              <a:t>In this protocol, a conscious attempt is made to be less greedy than in the previous one. Instead of sending </a:t>
            </a:r>
            <a:r>
              <a:rPr lang="en-US" b="1" dirty="0"/>
              <a:t>immediately</a:t>
            </a:r>
            <a:r>
              <a:rPr lang="en-US" dirty="0"/>
              <a:t> upon detecting the end of previous transmission, it waits for </a:t>
            </a:r>
            <a:r>
              <a:rPr lang="en-US" b="1" dirty="0"/>
              <a:t>random</a:t>
            </a:r>
            <a:r>
              <a:rPr lang="en-US" dirty="0"/>
              <a:t> period of time and then repeats the algorithm.  </a:t>
            </a:r>
            <a:endParaRPr dirty="0"/>
          </a:p>
          <a:p>
            <a:pPr marL="0" lvl="0" indent="0" algn="just" rtl="0">
              <a:spcBef>
                <a:spcPts val="444"/>
              </a:spcBef>
              <a:spcAft>
                <a:spcPts val="0"/>
              </a:spcAft>
              <a:buClr>
                <a:srgbClr val="7F7F7F"/>
              </a:buClr>
              <a:buSzPct val="100000"/>
              <a:buNone/>
            </a:pPr>
            <a:r>
              <a:rPr lang="en-US" dirty="0"/>
              <a:t>	Consequently, this algo leads to </a:t>
            </a:r>
            <a:r>
              <a:rPr lang="en-US" b="1" dirty="0"/>
              <a:t>better </a:t>
            </a:r>
            <a:r>
              <a:rPr lang="en-US" b="1" dirty="0" err="1"/>
              <a:t>ch</a:t>
            </a:r>
            <a:r>
              <a:rPr lang="en-US" b="1" dirty="0"/>
              <a:t> utilization but longer delays than 1-persistent CSMA.</a:t>
            </a:r>
            <a:endParaRPr dirty="0"/>
          </a:p>
          <a:p>
            <a:pPr marL="0" lvl="0" indent="0" algn="just" rtl="0">
              <a:spcBef>
                <a:spcPts val="444"/>
              </a:spcBef>
              <a:spcAft>
                <a:spcPts val="0"/>
              </a:spcAft>
              <a:buClr>
                <a:srgbClr val="7F7F7F"/>
              </a:buClr>
              <a:buSzPct val="100000"/>
              <a:buNone/>
            </a:pPr>
            <a:endParaRPr b="1" dirty="0"/>
          </a:p>
          <a:p>
            <a:pPr marL="0" lvl="0" indent="0" algn="just" rtl="0">
              <a:spcBef>
                <a:spcPts val="444"/>
              </a:spcBef>
              <a:spcAft>
                <a:spcPts val="0"/>
              </a:spcAft>
              <a:buClr>
                <a:srgbClr val="7F7F7F"/>
              </a:buClr>
              <a:buSzPct val="100000"/>
              <a:buNone/>
            </a:pPr>
            <a:r>
              <a:rPr lang="en-US" b="1" dirty="0"/>
              <a:t>iii. P-persistent CSMA:</a:t>
            </a:r>
            <a:endParaRPr dirty="0"/>
          </a:p>
          <a:p>
            <a:pPr marL="0" lvl="0" indent="0" algn="just" rtl="0">
              <a:spcBef>
                <a:spcPts val="444"/>
              </a:spcBef>
              <a:spcAft>
                <a:spcPts val="0"/>
              </a:spcAft>
              <a:buClr>
                <a:srgbClr val="7F7F7F"/>
              </a:buClr>
              <a:buSzPct val="100000"/>
              <a:buNone/>
            </a:pPr>
            <a:r>
              <a:rPr lang="en-US" b="1" dirty="0"/>
              <a:t>	</a:t>
            </a:r>
            <a:r>
              <a:rPr lang="en-US" dirty="0"/>
              <a:t>It applies to slotted </a:t>
            </a:r>
            <a:r>
              <a:rPr lang="en-US" dirty="0" err="1"/>
              <a:t>chs</a:t>
            </a:r>
            <a:r>
              <a:rPr lang="en-US" dirty="0"/>
              <a:t>. </a:t>
            </a:r>
            <a:endParaRPr dirty="0"/>
          </a:p>
          <a:p>
            <a:pPr marL="0" lvl="0" indent="0" algn="just" rtl="0">
              <a:spcBef>
                <a:spcPts val="444"/>
              </a:spcBef>
              <a:spcAft>
                <a:spcPts val="0"/>
              </a:spcAft>
              <a:buClr>
                <a:srgbClr val="7F7F7F"/>
              </a:buClr>
              <a:buSzPct val="100000"/>
              <a:buNone/>
            </a:pPr>
            <a:r>
              <a:rPr lang="en-US" dirty="0"/>
              <a:t>	When a station becomes ready to send, it sense the </a:t>
            </a:r>
            <a:r>
              <a:rPr lang="en-US" dirty="0" err="1"/>
              <a:t>ch.</a:t>
            </a:r>
            <a:r>
              <a:rPr lang="en-US" dirty="0"/>
              <a:t> If it is idle, it transmits with the probability </a:t>
            </a:r>
            <a:r>
              <a:rPr lang="en-US" b="1" dirty="0"/>
              <a:t>p</a:t>
            </a:r>
            <a:r>
              <a:rPr lang="en-US" dirty="0"/>
              <a:t>. With a probability </a:t>
            </a:r>
            <a:r>
              <a:rPr lang="en-US" b="1" dirty="0"/>
              <a:t>q = 1-p</a:t>
            </a:r>
            <a:r>
              <a:rPr lang="en-US" dirty="0"/>
              <a:t>, it defers(postpone) until </a:t>
            </a:r>
            <a:r>
              <a:rPr lang="en-US" dirty="0" err="1"/>
              <a:t>nxt</a:t>
            </a:r>
            <a:r>
              <a:rPr lang="en-US" dirty="0"/>
              <a:t> slot. If that (</a:t>
            </a:r>
            <a:r>
              <a:rPr lang="en-US" dirty="0" err="1"/>
              <a:t>nxt</a:t>
            </a:r>
            <a:r>
              <a:rPr lang="en-US" dirty="0"/>
              <a:t>) slot is also idle, it may transmit or defers.</a:t>
            </a:r>
            <a:endParaRPr dirty="0"/>
          </a:p>
          <a:p>
            <a:pPr marL="0" lvl="0" indent="0" algn="just" rtl="0">
              <a:spcBef>
                <a:spcPts val="444"/>
              </a:spcBef>
              <a:spcAft>
                <a:spcPts val="0"/>
              </a:spcAft>
              <a:buClr>
                <a:srgbClr val="7F7F7F"/>
              </a:buClr>
              <a:buSzPct val="100000"/>
              <a:buNone/>
            </a:pPr>
            <a:r>
              <a:rPr lang="en-US" dirty="0"/>
              <a:t>	If stations sense the </a:t>
            </a:r>
            <a:r>
              <a:rPr lang="en-US" dirty="0" err="1"/>
              <a:t>ch</a:t>
            </a:r>
            <a:r>
              <a:rPr lang="en-US" dirty="0"/>
              <a:t> busy, it waits until the </a:t>
            </a:r>
            <a:r>
              <a:rPr lang="en-US" dirty="0" err="1"/>
              <a:t>nxt</a:t>
            </a:r>
            <a:r>
              <a:rPr lang="en-US" dirty="0"/>
              <a:t> slot and applies the above algo.</a:t>
            </a:r>
            <a:endParaRPr dirty="0"/>
          </a:p>
          <a:p>
            <a:pPr marL="0" lvl="0" indent="0" algn="just" rtl="0">
              <a:spcBef>
                <a:spcPts val="444"/>
              </a:spcBef>
              <a:spcAft>
                <a:spcPts val="0"/>
              </a:spcAft>
              <a:buClr>
                <a:srgbClr val="7F7F7F"/>
              </a:buClr>
              <a:buSzPct val="100000"/>
              <a:buNone/>
            </a:pPr>
            <a:r>
              <a:rPr lang="en-US" dirty="0"/>
              <a:t>	IEEE 802.11 uses a refinement of p-persistent CSMA. </a:t>
            </a:r>
            <a:endParaRPr b="1"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C749704-C4DB-4B5B-A5EF-66C73C223C3E}"/>
                  </a:ext>
                </a:extLst>
              </p14:cNvPr>
              <p14:cNvContentPartPr/>
              <p14:nvPr/>
            </p14:nvContentPartPr>
            <p14:xfrm>
              <a:off x="5540120" y="2027027"/>
              <a:ext cx="1800" cy="11880"/>
            </p14:xfrm>
          </p:contentPart>
        </mc:Choice>
        <mc:Fallback xmlns="">
          <p:pic>
            <p:nvPicPr>
              <p:cNvPr id="2" name="Ink 1">
                <a:extLst>
                  <a:ext uri="{FF2B5EF4-FFF2-40B4-BE49-F238E27FC236}">
                    <a16:creationId xmlns:a16="http://schemas.microsoft.com/office/drawing/2014/main" id="{AC749704-C4DB-4B5B-A5EF-66C73C223C3E}"/>
                  </a:ext>
                </a:extLst>
              </p:cNvPr>
              <p:cNvPicPr/>
              <p:nvPr/>
            </p:nvPicPr>
            <p:blipFill>
              <a:blip r:embed="rId4"/>
              <a:stretch>
                <a:fillRect/>
              </a:stretch>
            </p:blipFill>
            <p:spPr>
              <a:xfrm>
                <a:off x="5531120" y="2018027"/>
                <a:ext cx="194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F37AF3A-B6FF-45DE-9C80-70FA0ADDEC76}"/>
                  </a:ext>
                </a:extLst>
              </p14:cNvPr>
              <p14:cNvContentPartPr/>
              <p14:nvPr/>
            </p14:nvContentPartPr>
            <p14:xfrm>
              <a:off x="3681440" y="1161947"/>
              <a:ext cx="27360" cy="14040"/>
            </p14:xfrm>
          </p:contentPart>
        </mc:Choice>
        <mc:Fallback xmlns="">
          <p:pic>
            <p:nvPicPr>
              <p:cNvPr id="4" name="Ink 3">
                <a:extLst>
                  <a:ext uri="{FF2B5EF4-FFF2-40B4-BE49-F238E27FC236}">
                    <a16:creationId xmlns:a16="http://schemas.microsoft.com/office/drawing/2014/main" id="{3F37AF3A-B6FF-45DE-9C80-70FA0ADDEC76}"/>
                  </a:ext>
                </a:extLst>
              </p:cNvPr>
              <p:cNvPicPr/>
              <p:nvPr/>
            </p:nvPicPr>
            <p:blipFill>
              <a:blip r:embed="rId8"/>
              <a:stretch>
                <a:fillRect/>
              </a:stretch>
            </p:blipFill>
            <p:spPr>
              <a:xfrm>
                <a:off x="3672800" y="1152947"/>
                <a:ext cx="450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DE8FD40F-7BA1-4AAC-B284-7A554B32C7DC}"/>
                  </a:ext>
                </a:extLst>
              </p14:cNvPr>
              <p14:cNvContentPartPr/>
              <p14:nvPr/>
            </p14:nvContentPartPr>
            <p14:xfrm>
              <a:off x="788840" y="2281547"/>
              <a:ext cx="99000" cy="49680"/>
            </p14:xfrm>
          </p:contentPart>
        </mc:Choice>
        <mc:Fallback xmlns="">
          <p:pic>
            <p:nvPicPr>
              <p:cNvPr id="7" name="Ink 6">
                <a:extLst>
                  <a:ext uri="{FF2B5EF4-FFF2-40B4-BE49-F238E27FC236}">
                    <a16:creationId xmlns:a16="http://schemas.microsoft.com/office/drawing/2014/main" id="{DE8FD40F-7BA1-4AAC-B284-7A554B32C7DC}"/>
                  </a:ext>
                </a:extLst>
              </p:cNvPr>
              <p:cNvPicPr/>
              <p:nvPr/>
            </p:nvPicPr>
            <p:blipFill>
              <a:blip r:embed="rId14"/>
              <a:stretch>
                <a:fillRect/>
              </a:stretch>
            </p:blipFill>
            <p:spPr>
              <a:xfrm>
                <a:off x="780200" y="2272907"/>
                <a:ext cx="1166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10B13D4B-F3E4-4FE7-9A5D-53BFAC476965}"/>
                  </a:ext>
                </a:extLst>
              </p14:cNvPr>
              <p14:cNvContentPartPr/>
              <p14:nvPr/>
            </p14:nvContentPartPr>
            <p14:xfrm>
              <a:off x="2565440" y="4981547"/>
              <a:ext cx="27360" cy="8280"/>
            </p14:xfrm>
          </p:contentPart>
        </mc:Choice>
        <mc:Fallback xmlns="">
          <p:pic>
            <p:nvPicPr>
              <p:cNvPr id="25" name="Ink 24">
                <a:extLst>
                  <a:ext uri="{FF2B5EF4-FFF2-40B4-BE49-F238E27FC236}">
                    <a16:creationId xmlns:a16="http://schemas.microsoft.com/office/drawing/2014/main" id="{10B13D4B-F3E4-4FE7-9A5D-53BFAC476965}"/>
                  </a:ext>
                </a:extLst>
              </p:cNvPr>
              <p:cNvPicPr/>
              <p:nvPr/>
            </p:nvPicPr>
            <p:blipFill>
              <a:blip r:embed="rId46"/>
              <a:stretch>
                <a:fillRect/>
              </a:stretch>
            </p:blipFill>
            <p:spPr>
              <a:xfrm>
                <a:off x="2556800" y="4972907"/>
                <a:ext cx="450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0EDF3619-5283-49D9-BC9A-E4395EC2BEF4}"/>
                  </a:ext>
                </a:extLst>
              </p14:cNvPr>
              <p14:cNvContentPartPr/>
              <p14:nvPr/>
            </p14:nvContentPartPr>
            <p14:xfrm>
              <a:off x="789560" y="6058307"/>
              <a:ext cx="15120" cy="289080"/>
            </p14:xfrm>
          </p:contentPart>
        </mc:Choice>
        <mc:Fallback xmlns="">
          <p:pic>
            <p:nvPicPr>
              <p:cNvPr id="26" name="Ink 25">
                <a:extLst>
                  <a:ext uri="{FF2B5EF4-FFF2-40B4-BE49-F238E27FC236}">
                    <a16:creationId xmlns:a16="http://schemas.microsoft.com/office/drawing/2014/main" id="{0EDF3619-5283-49D9-BC9A-E4395EC2BEF4}"/>
                  </a:ext>
                </a:extLst>
              </p:cNvPr>
              <p:cNvPicPr/>
              <p:nvPr/>
            </p:nvPicPr>
            <p:blipFill>
              <a:blip r:embed="rId48"/>
              <a:stretch>
                <a:fillRect/>
              </a:stretch>
            </p:blipFill>
            <p:spPr>
              <a:xfrm>
                <a:off x="780920" y="6049667"/>
                <a:ext cx="32760" cy="3067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8"/>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192" name="Google Shape;192;p2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193" name="Google Shape;193;p28"/>
          <p:cNvSpPr txBox="1"/>
          <p:nvPr/>
        </p:nvSpPr>
        <p:spPr>
          <a:xfrm>
            <a:off x="287338" y="5715000"/>
            <a:ext cx="8856662"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7F7F7F"/>
              </a:buClr>
              <a:buSzPts val="2400"/>
              <a:buFont typeface="Arial"/>
              <a:buNone/>
            </a:pPr>
            <a:r>
              <a:rPr lang="en-US" sz="2400">
                <a:solidFill>
                  <a:srgbClr val="7F7F7F"/>
                </a:solidFill>
                <a:latin typeface="Arial"/>
                <a:ea typeface="Arial"/>
                <a:cs typeface="Arial"/>
                <a:sym typeface="Arial"/>
              </a:rPr>
              <a:t>Comparison of the channel utilization versus load for various random access protocols.</a:t>
            </a:r>
            <a:endParaRPr/>
          </a:p>
        </p:txBody>
      </p:sp>
      <p:pic>
        <p:nvPicPr>
          <p:cNvPr id="194" name="Google Shape;194;p28"/>
          <p:cNvPicPr preferRelativeResize="0"/>
          <p:nvPr/>
        </p:nvPicPr>
        <p:blipFill rotWithShape="1">
          <a:blip r:embed="rId3">
            <a:alphaModFix/>
          </a:blip>
          <a:srcRect/>
          <a:stretch/>
        </p:blipFill>
        <p:spPr>
          <a:xfrm>
            <a:off x="485775" y="1452563"/>
            <a:ext cx="8172450" cy="3952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179512" y="0"/>
            <a:ext cx="8784976" cy="836712"/>
          </a:xfrm>
          <a:prstGeom prst="rect">
            <a:avLst/>
          </a:prstGeom>
          <a:noFill/>
          <a:ln>
            <a:noFill/>
          </a:ln>
        </p:spPr>
        <p:txBody>
          <a:bodyPr spcFirstLastPara="1" wrap="square" lIns="91425" tIns="45700" rIns="91425" bIns="45700" anchor="b" anchorCtr="0">
            <a:noAutofit/>
          </a:bodyPr>
          <a:lstStyle/>
          <a:p>
            <a:pPr marL="0" lvl="0" indent="0" algn="ctr" rtl="0">
              <a:lnSpc>
                <a:spcPct val="120833"/>
              </a:lnSpc>
              <a:spcBef>
                <a:spcPts val="0"/>
              </a:spcBef>
              <a:spcAft>
                <a:spcPts val="0"/>
              </a:spcAft>
              <a:buClr>
                <a:schemeClr val="dk1"/>
              </a:buClr>
              <a:buSzPts val="4800"/>
              <a:buFont typeface="Arial"/>
              <a:buNone/>
            </a:pPr>
            <a:r>
              <a:rPr lang="en-US" sz="4800">
                <a:solidFill>
                  <a:schemeClr val="dk1"/>
                </a:solidFill>
                <a:latin typeface="Arial"/>
                <a:ea typeface="Arial"/>
                <a:cs typeface="Arial"/>
                <a:sym typeface="Arial"/>
              </a:rPr>
              <a:t>CSMA with Collision Detection</a:t>
            </a:r>
            <a:endParaRPr sz="4800"/>
          </a:p>
        </p:txBody>
      </p:sp>
      <p:sp>
        <p:nvSpPr>
          <p:cNvPr id="200" name="Google Shape;200;p29"/>
          <p:cNvSpPr txBox="1">
            <a:spLocks noGrp="1"/>
          </p:cNvSpPr>
          <p:nvPr>
            <p:ph idx="1"/>
          </p:nvPr>
        </p:nvSpPr>
        <p:spPr>
          <a:xfrm>
            <a:off x="457200" y="836712"/>
            <a:ext cx="8229600" cy="5289451"/>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a:t>If two stations sense the ch is idle and begin transmission simultaneously, their signal is still going to collide.</a:t>
            </a:r>
            <a:endParaRPr/>
          </a:p>
          <a:p>
            <a:pPr marL="342900" lvl="0" indent="-342900" algn="just" rtl="0">
              <a:spcBef>
                <a:spcPts val="480"/>
              </a:spcBef>
              <a:spcAft>
                <a:spcPts val="0"/>
              </a:spcAft>
              <a:buClr>
                <a:srgbClr val="7F7F7F"/>
              </a:buClr>
              <a:buSzPts val="2400"/>
              <a:buChar char="•"/>
            </a:pPr>
            <a:r>
              <a:rPr lang="en-US"/>
              <a:t>An improvement could be to quickly detect and stop the transmission(rather than finishing them) since they are going to be garbled anyway.</a:t>
            </a:r>
            <a:endParaRPr/>
          </a:p>
          <a:p>
            <a:pPr marL="342900" lvl="0" indent="-342900" algn="just" rtl="0">
              <a:spcBef>
                <a:spcPts val="480"/>
              </a:spcBef>
              <a:spcAft>
                <a:spcPts val="0"/>
              </a:spcAft>
              <a:buClr>
                <a:srgbClr val="7F7F7F"/>
              </a:buClr>
              <a:buSzPts val="2400"/>
              <a:buChar char="•"/>
            </a:pPr>
            <a:r>
              <a:rPr lang="en-US"/>
              <a:t>This strategy saves time and BW.</a:t>
            </a:r>
            <a:endParaRPr/>
          </a:p>
          <a:p>
            <a:pPr marL="342900" lvl="0" indent="-342900" algn="just" rtl="0">
              <a:spcBef>
                <a:spcPts val="480"/>
              </a:spcBef>
              <a:spcAft>
                <a:spcPts val="0"/>
              </a:spcAft>
              <a:buClr>
                <a:srgbClr val="7F7F7F"/>
              </a:buClr>
              <a:buSzPts val="2400"/>
              <a:buChar char="•"/>
            </a:pPr>
            <a:r>
              <a:rPr lang="en-US"/>
              <a:t>This protocol, known as CSMA/CD (Carrier Sense Multiple Access with Collision Detection), is the basis of </a:t>
            </a:r>
            <a:r>
              <a:rPr lang="en-US" b="1"/>
              <a:t>classic Ethernet LAN</a:t>
            </a:r>
            <a:r>
              <a:rPr lang="en-US"/>
              <a:t>.</a:t>
            </a:r>
            <a:endParaRPr/>
          </a:p>
          <a:p>
            <a:pPr marL="342900" lvl="0" indent="-342900" algn="just" rtl="0">
              <a:spcBef>
                <a:spcPts val="480"/>
              </a:spcBef>
              <a:spcAft>
                <a:spcPts val="0"/>
              </a:spcAft>
              <a:buClr>
                <a:srgbClr val="7F7F7F"/>
              </a:buClr>
              <a:buSzPts val="2400"/>
              <a:buChar char="•"/>
            </a:pPr>
            <a:r>
              <a:rPr lang="en-US"/>
              <a:t>Minimum time to detect collision = time for signal to propagate.</a:t>
            </a:r>
            <a:endParaRPr/>
          </a:p>
          <a:p>
            <a:pPr marL="342900" lvl="0" indent="-342900" algn="just" rtl="0">
              <a:spcBef>
                <a:spcPts val="480"/>
              </a:spcBef>
              <a:spcAft>
                <a:spcPts val="0"/>
              </a:spcAft>
              <a:buClr>
                <a:srgbClr val="7F7F7F"/>
              </a:buClr>
              <a:buSzPts val="2400"/>
              <a:buChar char="•"/>
            </a:pPr>
            <a:r>
              <a:rPr lang="en-US"/>
              <a:t>CSMA/CD can be in one of three states: transmission, contention, or idle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idx="1"/>
          </p:nvPr>
        </p:nvSpPr>
        <p:spPr>
          <a:xfrm>
            <a:off x="457200" y="620688"/>
            <a:ext cx="8229600" cy="6048672"/>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dirty="0"/>
          </a:p>
        </p:txBody>
      </p:sp>
      <p:sp>
        <p:nvSpPr>
          <p:cNvPr id="206" name="Google Shape;206;p30"/>
          <p:cNvSpPr/>
          <p:nvPr/>
        </p:nvSpPr>
        <p:spPr>
          <a:xfrm>
            <a:off x="0" y="152400"/>
            <a:ext cx="91440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1"/>
                </a:solidFill>
                <a:latin typeface="Arial"/>
                <a:ea typeface="Arial"/>
                <a:cs typeface="Arial"/>
                <a:sym typeface="Arial"/>
              </a:rPr>
              <a:t>CSMA with Collision Detection</a:t>
            </a:r>
            <a:endParaRPr/>
          </a:p>
        </p:txBody>
      </p:sp>
      <p:sp>
        <p:nvSpPr>
          <p:cNvPr id="207" name="Google Shape;207;p30"/>
          <p:cNvSpPr/>
          <p:nvPr/>
        </p:nvSpPr>
        <p:spPr>
          <a:xfrm>
            <a:off x="287338" y="5867400"/>
            <a:ext cx="8856662" cy="838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CSMA/CD can be in one of three states: contention, transmission, or idle.</a:t>
            </a:r>
            <a:endParaRPr/>
          </a:p>
        </p:txBody>
      </p:sp>
      <p:pic>
        <p:nvPicPr>
          <p:cNvPr id="208" name="Google Shape;208;p30"/>
          <p:cNvPicPr preferRelativeResize="0"/>
          <p:nvPr/>
        </p:nvPicPr>
        <p:blipFill rotWithShape="1">
          <a:blip r:embed="rId3">
            <a:alphaModFix/>
          </a:blip>
          <a:srcRect/>
          <a:stretch/>
        </p:blipFill>
        <p:spPr>
          <a:xfrm>
            <a:off x="327025" y="2209800"/>
            <a:ext cx="8512175" cy="26098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75DC9A7-270A-4300-AD38-B1AE0C4898D4}"/>
                  </a:ext>
                </a:extLst>
              </p14:cNvPr>
              <p14:cNvContentPartPr/>
              <p14:nvPr/>
            </p14:nvContentPartPr>
            <p14:xfrm>
              <a:off x="1938320" y="2916587"/>
              <a:ext cx="7920" cy="243000"/>
            </p14:xfrm>
          </p:contentPart>
        </mc:Choice>
        <mc:Fallback xmlns="">
          <p:pic>
            <p:nvPicPr>
              <p:cNvPr id="2" name="Ink 1">
                <a:extLst>
                  <a:ext uri="{FF2B5EF4-FFF2-40B4-BE49-F238E27FC236}">
                    <a16:creationId xmlns:a16="http://schemas.microsoft.com/office/drawing/2014/main" id="{775DC9A7-270A-4300-AD38-B1AE0C4898D4}"/>
                  </a:ext>
                </a:extLst>
              </p:cNvPr>
              <p:cNvPicPr/>
              <p:nvPr/>
            </p:nvPicPr>
            <p:blipFill>
              <a:blip r:embed="rId5"/>
              <a:stretch>
                <a:fillRect/>
              </a:stretch>
            </p:blipFill>
            <p:spPr>
              <a:xfrm>
                <a:off x="1929320" y="2907947"/>
                <a:ext cx="2556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87AE0FF4-330D-4D50-93AA-8CD7B98703E6}"/>
                  </a:ext>
                </a:extLst>
              </p14:cNvPr>
              <p14:cNvContentPartPr/>
              <p14:nvPr/>
            </p14:nvContentPartPr>
            <p14:xfrm>
              <a:off x="2118680" y="2942867"/>
              <a:ext cx="52920" cy="304560"/>
            </p14:xfrm>
          </p:contentPart>
        </mc:Choice>
        <mc:Fallback xmlns="">
          <p:pic>
            <p:nvPicPr>
              <p:cNvPr id="3" name="Ink 2">
                <a:extLst>
                  <a:ext uri="{FF2B5EF4-FFF2-40B4-BE49-F238E27FC236}">
                    <a16:creationId xmlns:a16="http://schemas.microsoft.com/office/drawing/2014/main" id="{87AE0FF4-330D-4D50-93AA-8CD7B98703E6}"/>
                  </a:ext>
                </a:extLst>
              </p:cNvPr>
              <p:cNvPicPr/>
              <p:nvPr/>
            </p:nvPicPr>
            <p:blipFill>
              <a:blip r:embed="rId7"/>
              <a:stretch>
                <a:fillRect/>
              </a:stretch>
            </p:blipFill>
            <p:spPr>
              <a:xfrm>
                <a:off x="2110040" y="2933867"/>
                <a:ext cx="705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0D6776C4-AE4B-4CA5-8287-5F658D77974E}"/>
                  </a:ext>
                </a:extLst>
              </p14:cNvPr>
              <p14:cNvContentPartPr/>
              <p14:nvPr/>
            </p14:nvContentPartPr>
            <p14:xfrm>
              <a:off x="2441240" y="2889947"/>
              <a:ext cx="13320" cy="333360"/>
            </p14:xfrm>
          </p:contentPart>
        </mc:Choice>
        <mc:Fallback xmlns="">
          <p:pic>
            <p:nvPicPr>
              <p:cNvPr id="4" name="Ink 3">
                <a:extLst>
                  <a:ext uri="{FF2B5EF4-FFF2-40B4-BE49-F238E27FC236}">
                    <a16:creationId xmlns:a16="http://schemas.microsoft.com/office/drawing/2014/main" id="{0D6776C4-AE4B-4CA5-8287-5F658D77974E}"/>
                  </a:ext>
                </a:extLst>
              </p:cNvPr>
              <p:cNvPicPr/>
              <p:nvPr/>
            </p:nvPicPr>
            <p:blipFill>
              <a:blip r:embed="rId9"/>
              <a:stretch>
                <a:fillRect/>
              </a:stretch>
            </p:blipFill>
            <p:spPr>
              <a:xfrm>
                <a:off x="2432600" y="2880947"/>
                <a:ext cx="3096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71DF5635-F790-4353-AFEA-C5265A55E0E6}"/>
                  </a:ext>
                </a:extLst>
              </p14:cNvPr>
              <p14:cNvContentPartPr/>
              <p14:nvPr/>
            </p14:nvContentPartPr>
            <p14:xfrm>
              <a:off x="526400" y="3388547"/>
              <a:ext cx="360" cy="360"/>
            </p14:xfrm>
          </p:contentPart>
        </mc:Choice>
        <mc:Fallback xmlns="">
          <p:pic>
            <p:nvPicPr>
              <p:cNvPr id="5" name="Ink 4">
                <a:extLst>
                  <a:ext uri="{FF2B5EF4-FFF2-40B4-BE49-F238E27FC236}">
                    <a16:creationId xmlns:a16="http://schemas.microsoft.com/office/drawing/2014/main" id="{71DF5635-F790-4353-AFEA-C5265A55E0E6}"/>
                  </a:ext>
                </a:extLst>
              </p:cNvPr>
              <p:cNvPicPr/>
              <p:nvPr/>
            </p:nvPicPr>
            <p:blipFill>
              <a:blip r:embed="rId11"/>
              <a:stretch>
                <a:fillRect/>
              </a:stretch>
            </p:blipFill>
            <p:spPr>
              <a:xfrm>
                <a:off x="517760" y="3379907"/>
                <a:ext cx="18000" cy="1800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pic>
        <p:nvPicPr>
          <p:cNvPr id="214" name="Google Shape;214;p31"/>
          <p:cNvPicPr preferRelativeResize="0">
            <a:picLocks noGrp="1"/>
          </p:cNvPicPr>
          <p:nvPr>
            <p:ph idx="1"/>
          </p:nvPr>
        </p:nvPicPr>
        <p:blipFill rotWithShape="1">
          <a:blip r:embed="rId3">
            <a:alphaModFix/>
          </a:blip>
          <a:stretch/>
        </p:blipFill>
        <p:spPr>
          <a:xfrm>
            <a:off x="609600" y="2817647"/>
            <a:ext cx="6348413" cy="256731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CSMA/CD with Binary Exponential Backoff</a:t>
            </a:r>
            <a:endParaRPr/>
          </a:p>
        </p:txBody>
      </p:sp>
      <p:pic>
        <p:nvPicPr>
          <p:cNvPr id="220" name="Google Shape;220;p32"/>
          <p:cNvPicPr preferRelativeResize="0">
            <a:picLocks noGrp="1"/>
          </p:cNvPicPr>
          <p:nvPr>
            <p:ph idx="1"/>
          </p:nvPr>
        </p:nvPicPr>
        <p:blipFill rotWithShape="1">
          <a:blip r:embed="rId3">
            <a:alphaModFix/>
          </a:blip>
          <a:stretch/>
        </p:blipFill>
        <p:spPr>
          <a:xfrm>
            <a:off x="609600" y="2440338"/>
            <a:ext cx="6348413" cy="332193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a:spLocks noGrp="1"/>
          </p:cNvSpPr>
          <p:nvPr>
            <p:ph type="title"/>
          </p:nvPr>
        </p:nvSpPr>
        <p:spPr>
          <a:xfrm>
            <a:off x="586814" y="556387"/>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dirty="0"/>
              <a:t>Collision Free Protocol</a:t>
            </a:r>
            <a:endParaRPr dirty="0"/>
          </a:p>
        </p:txBody>
      </p:sp>
      <p:sp>
        <p:nvSpPr>
          <p:cNvPr id="226" name="Google Shape;226;p33"/>
          <p:cNvSpPr txBox="1">
            <a:spLocks noGrp="1"/>
          </p:cNvSpPr>
          <p:nvPr>
            <p:ph idx="1"/>
          </p:nvPr>
        </p:nvSpPr>
        <p:spPr>
          <a:xfrm>
            <a:off x="457200" y="1152127"/>
            <a:ext cx="8229600"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dirty="0"/>
              <a:t>The collision in contention period in CSMA/CD adversely affect the system when delay-BW product is large, such as the cable is long and frames are short. This is not good for real-time traffic as VOIP.</a:t>
            </a:r>
            <a:endParaRPr dirty="0"/>
          </a:p>
          <a:p>
            <a:pPr marL="342900" lvl="0" indent="-190500" algn="just" rtl="0">
              <a:spcBef>
                <a:spcPts val="480"/>
              </a:spcBef>
              <a:spcAft>
                <a:spcPts val="0"/>
              </a:spcAft>
              <a:buClr>
                <a:srgbClr val="7F7F7F"/>
              </a:buClr>
              <a:buSzPts val="2400"/>
              <a:buNone/>
            </a:pPr>
            <a:endParaRPr dirty="0"/>
          </a:p>
          <a:p>
            <a:pPr marL="342900" lvl="0" indent="-342900" algn="just" rtl="0">
              <a:spcBef>
                <a:spcPts val="480"/>
              </a:spcBef>
              <a:spcAft>
                <a:spcPts val="0"/>
              </a:spcAft>
              <a:buClr>
                <a:srgbClr val="7F7F7F"/>
              </a:buClr>
              <a:buSzPts val="2400"/>
              <a:buChar char="•"/>
            </a:pPr>
            <a:r>
              <a:rPr lang="en-US" dirty="0"/>
              <a:t>Collision Free :  No collision [not even during contention period]</a:t>
            </a:r>
            <a:endParaRPr dirty="0"/>
          </a:p>
          <a:p>
            <a:pPr marL="457200" lvl="0" indent="-457200" algn="just" rtl="0">
              <a:spcBef>
                <a:spcPts val="480"/>
              </a:spcBef>
              <a:spcAft>
                <a:spcPts val="0"/>
              </a:spcAft>
              <a:buClr>
                <a:srgbClr val="7F7F7F"/>
              </a:buClr>
              <a:buSzPts val="2400"/>
              <a:buAutoNum type="arabicPeriod"/>
            </a:pPr>
            <a:r>
              <a:rPr lang="en-US" dirty="0"/>
              <a:t>Bit-Map</a:t>
            </a:r>
            <a:endParaRPr dirty="0"/>
          </a:p>
          <a:p>
            <a:pPr marL="457200" lvl="0" indent="-457200" algn="just" rtl="0">
              <a:spcBef>
                <a:spcPts val="480"/>
              </a:spcBef>
              <a:spcAft>
                <a:spcPts val="0"/>
              </a:spcAft>
              <a:buClr>
                <a:srgbClr val="7F7F7F"/>
              </a:buClr>
              <a:buSzPts val="2400"/>
              <a:buAutoNum type="arabicPeriod"/>
            </a:pPr>
            <a:r>
              <a:rPr lang="en-US" dirty="0"/>
              <a:t>Token Ring</a:t>
            </a:r>
            <a:endParaRPr dirty="0"/>
          </a:p>
          <a:p>
            <a:pPr marL="457200" lvl="0" indent="-457200" algn="just" rtl="0">
              <a:spcBef>
                <a:spcPts val="480"/>
              </a:spcBef>
              <a:spcAft>
                <a:spcPts val="0"/>
              </a:spcAft>
              <a:buClr>
                <a:srgbClr val="7F7F7F"/>
              </a:buClr>
              <a:buSzPts val="2400"/>
              <a:buAutoNum type="arabicPeriod"/>
            </a:pPr>
            <a:r>
              <a:rPr lang="en-US" dirty="0"/>
              <a:t>Binary Countdown </a:t>
            </a:r>
            <a:endParaRPr dirty="0"/>
          </a:p>
          <a:p>
            <a:pPr marL="342900" lvl="0" indent="-190500" algn="just" rtl="0">
              <a:spcBef>
                <a:spcPts val="480"/>
              </a:spcBef>
              <a:spcAft>
                <a:spcPts val="0"/>
              </a:spcAft>
              <a:buClr>
                <a:srgbClr val="7F7F7F"/>
              </a:buClr>
              <a:buSzPts val="2400"/>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524284" y="640804"/>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br>
              <a:rPr lang="en-US" dirty="0"/>
            </a:br>
            <a:br>
              <a:rPr lang="en-US" dirty="0"/>
            </a:br>
            <a:br>
              <a:rPr lang="en-US" dirty="0"/>
            </a:br>
            <a:br>
              <a:rPr lang="en-US" dirty="0"/>
            </a:br>
            <a:r>
              <a:rPr lang="en-US" dirty="0"/>
              <a:t>A Bit-Map Protocol</a:t>
            </a:r>
            <a:endParaRPr dirty="0"/>
          </a:p>
        </p:txBody>
      </p:sp>
      <p:sp>
        <p:nvSpPr>
          <p:cNvPr id="233" name="Google Shape;233;p34"/>
          <p:cNvSpPr/>
          <p:nvPr/>
        </p:nvSpPr>
        <p:spPr>
          <a:xfrm>
            <a:off x="182563" y="4686300"/>
            <a:ext cx="8856662" cy="838200"/>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The basic bit-map protocol.</a:t>
            </a:r>
            <a:endParaRPr/>
          </a:p>
        </p:txBody>
      </p:sp>
      <p:pic>
        <p:nvPicPr>
          <p:cNvPr id="234" name="Google Shape;234;p34"/>
          <p:cNvPicPr preferRelativeResize="0"/>
          <p:nvPr/>
        </p:nvPicPr>
        <p:blipFill rotWithShape="1">
          <a:blip r:embed="rId3">
            <a:alphaModFix/>
          </a:blip>
          <a:srcRect/>
          <a:stretch/>
        </p:blipFill>
        <p:spPr>
          <a:xfrm>
            <a:off x="581025" y="1333500"/>
            <a:ext cx="8116119" cy="1866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5"/>
          <p:cNvSpPr txBox="1">
            <a:spLocks noGrp="1"/>
          </p:cNvSpPr>
          <p:nvPr>
            <p:ph type="title"/>
          </p:nvPr>
        </p:nvSpPr>
        <p:spPr>
          <a:xfrm>
            <a:off x="613966" y="447408"/>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br>
              <a:rPr lang="en-US" dirty="0"/>
            </a:br>
            <a:br>
              <a:rPr lang="en-US" dirty="0"/>
            </a:br>
            <a:br>
              <a:rPr lang="en-US" dirty="0"/>
            </a:br>
            <a:br>
              <a:rPr lang="en-US" dirty="0"/>
            </a:br>
            <a:r>
              <a:rPr lang="en-US" dirty="0"/>
              <a:t>Token Ring</a:t>
            </a:r>
            <a:endParaRPr dirty="0"/>
          </a:p>
        </p:txBody>
      </p:sp>
      <p:sp>
        <p:nvSpPr>
          <p:cNvPr id="240" name="Google Shape;240;p35"/>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190500" algn="l" rtl="0">
              <a:spcBef>
                <a:spcPts val="480"/>
              </a:spcBef>
              <a:spcAft>
                <a:spcPts val="0"/>
              </a:spcAft>
              <a:buClr>
                <a:srgbClr val="7F7F7F"/>
              </a:buClr>
              <a:buSzPts val="2400"/>
              <a:buNone/>
            </a:pPr>
            <a:endParaRPr dirty="0"/>
          </a:p>
          <a:p>
            <a:pPr marL="342900" lvl="0" indent="-342900" algn="l" rtl="0">
              <a:spcBef>
                <a:spcPts val="480"/>
              </a:spcBef>
              <a:spcAft>
                <a:spcPts val="0"/>
              </a:spcAft>
              <a:buClr>
                <a:srgbClr val="7F7F7F"/>
              </a:buClr>
              <a:buSzPts val="2400"/>
              <a:buChar char="•"/>
            </a:pPr>
            <a:endParaRPr lang="en-US" dirty="0"/>
          </a:p>
          <a:p>
            <a:pPr marL="342900" lvl="0" indent="-342900" algn="l" rtl="0">
              <a:spcBef>
                <a:spcPts val="480"/>
              </a:spcBef>
              <a:spcAft>
                <a:spcPts val="0"/>
              </a:spcAft>
              <a:buClr>
                <a:srgbClr val="7F7F7F"/>
              </a:buClr>
              <a:buSzPts val="2400"/>
              <a:buChar char="•"/>
            </a:pPr>
            <a:endParaRPr lang="en-US" dirty="0"/>
          </a:p>
          <a:p>
            <a:pPr marL="342900" lvl="0" indent="-342900" algn="l" rtl="0">
              <a:spcBef>
                <a:spcPts val="480"/>
              </a:spcBef>
              <a:spcAft>
                <a:spcPts val="0"/>
              </a:spcAft>
              <a:buClr>
                <a:srgbClr val="7F7F7F"/>
              </a:buClr>
              <a:buSzPts val="2400"/>
              <a:buChar char="•"/>
            </a:pPr>
            <a:r>
              <a:rPr lang="en-US" dirty="0"/>
              <a:t>No bias for low- or high-numbered stations.</a:t>
            </a:r>
            <a:endParaRPr dirty="0"/>
          </a:p>
        </p:txBody>
      </p:sp>
      <p:sp>
        <p:nvSpPr>
          <p:cNvPr id="241" name="Google Shape;241;p35"/>
          <p:cNvSpPr/>
          <p:nvPr/>
        </p:nvSpPr>
        <p:spPr>
          <a:xfrm>
            <a:off x="143669" y="4293096"/>
            <a:ext cx="8856662" cy="1474292"/>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dirty="0">
                <a:solidFill>
                  <a:schemeClr val="dk1"/>
                </a:solidFill>
                <a:latin typeface="Arial"/>
                <a:ea typeface="Arial"/>
                <a:cs typeface="Arial"/>
                <a:sym typeface="Arial"/>
              </a:rPr>
              <a:t>Token ring.</a:t>
            </a:r>
            <a:endParaRPr dirty="0"/>
          </a:p>
        </p:txBody>
      </p:sp>
      <p:pic>
        <p:nvPicPr>
          <p:cNvPr id="242" name="Google Shape;242;p35"/>
          <p:cNvPicPr preferRelativeResize="0"/>
          <p:nvPr/>
        </p:nvPicPr>
        <p:blipFill rotWithShape="1">
          <a:blip r:embed="rId3">
            <a:alphaModFix/>
          </a:blip>
          <a:srcRect/>
          <a:stretch/>
        </p:blipFill>
        <p:spPr>
          <a:xfrm>
            <a:off x="2696852" y="1458360"/>
            <a:ext cx="3415713" cy="283473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6"/>
          <p:cNvSpPr txBox="1">
            <a:spLocks noGrp="1"/>
          </p:cNvSpPr>
          <p:nvPr>
            <p:ph type="title"/>
          </p:nvPr>
        </p:nvSpPr>
        <p:spPr>
          <a:xfrm>
            <a:off x="467544" y="188640"/>
            <a:ext cx="8229600" cy="1296144"/>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b="1"/>
              <a:t>Binary Countdown Protocol</a:t>
            </a:r>
            <a:endParaRPr/>
          </a:p>
        </p:txBody>
      </p:sp>
      <p:sp>
        <p:nvSpPr>
          <p:cNvPr id="248" name="Google Shape;248;p36"/>
          <p:cNvSpPr txBox="1">
            <a:spLocks noGrp="1"/>
          </p:cNvSpPr>
          <p:nvPr>
            <p:ph idx="1"/>
          </p:nvPr>
        </p:nvSpPr>
        <p:spPr>
          <a:xfrm>
            <a:off x="457200" y="1772816"/>
            <a:ext cx="8229600" cy="489654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a:t>All stations have same length binary address</a:t>
            </a:r>
            <a:endParaRPr/>
          </a:p>
          <a:p>
            <a:pPr marL="342900" lvl="0" indent="-342900" algn="l" rtl="0">
              <a:spcBef>
                <a:spcPts val="480"/>
              </a:spcBef>
              <a:spcAft>
                <a:spcPts val="0"/>
              </a:spcAft>
              <a:buClr>
                <a:srgbClr val="7F7F7F"/>
              </a:buClr>
              <a:buSzPts val="2400"/>
              <a:buChar char="•"/>
            </a:pPr>
            <a:r>
              <a:rPr lang="en-US"/>
              <a:t>Station wanting to use channel now broadcasts its binary address string starting with MSB</a:t>
            </a:r>
            <a:endParaRPr/>
          </a:p>
          <a:p>
            <a:pPr marL="342900" lvl="0" indent="-342900" algn="l" rtl="0">
              <a:spcBef>
                <a:spcPts val="480"/>
              </a:spcBef>
              <a:spcAft>
                <a:spcPts val="0"/>
              </a:spcAft>
              <a:buClr>
                <a:srgbClr val="7F7F7F"/>
              </a:buClr>
              <a:buSzPts val="2400"/>
              <a:buChar char="•"/>
            </a:pPr>
            <a:r>
              <a:rPr lang="en-US"/>
              <a:t>Bits from all address of stations wanted to transmit are ORed.</a:t>
            </a:r>
            <a:endParaRPr/>
          </a:p>
          <a:p>
            <a:pPr marL="342900" lvl="0" indent="-342900" algn="l" rtl="0">
              <a:spcBef>
                <a:spcPts val="480"/>
              </a:spcBef>
              <a:spcAft>
                <a:spcPts val="0"/>
              </a:spcAft>
              <a:buClr>
                <a:srgbClr val="7F7F7F"/>
              </a:buClr>
              <a:buSzPts val="2400"/>
              <a:buChar char="•"/>
            </a:pPr>
            <a:r>
              <a:rPr lang="en-US"/>
              <a:t>Stations will get chance according to 1</a:t>
            </a:r>
            <a:r>
              <a:rPr lang="en-US" baseline="30000"/>
              <a:t>st</a:t>
            </a:r>
            <a:r>
              <a:rPr lang="en-US"/>
              <a:t> position from MSB to LSB</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7"/>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254" name="Google Shape;254;p37"/>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a:t>“-“dash =&gt; indicates the silence</a:t>
            </a: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p:txBody>
      </p:sp>
      <p:pic>
        <p:nvPicPr>
          <p:cNvPr id="255" name="Google Shape;255;p37" descr="4-07"/>
          <p:cNvPicPr preferRelativeResize="0"/>
          <p:nvPr/>
        </p:nvPicPr>
        <p:blipFill rotWithShape="1">
          <a:blip r:embed="rId3">
            <a:alphaModFix/>
          </a:blip>
          <a:srcRect/>
          <a:stretch/>
        </p:blipFill>
        <p:spPr>
          <a:xfrm>
            <a:off x="2393011" y="1916832"/>
            <a:ext cx="3331117" cy="295232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8"/>
          <p:cNvSpPr txBox="1">
            <a:spLocks noGrp="1"/>
          </p:cNvSpPr>
          <p:nvPr>
            <p:ph type="title"/>
          </p:nvPr>
        </p:nvSpPr>
        <p:spPr>
          <a:xfrm>
            <a:off x="467544" y="188640"/>
            <a:ext cx="8229600" cy="1656184"/>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Classic Ethernet MAC Sublayer Protocol</a:t>
            </a:r>
            <a:endParaRPr/>
          </a:p>
        </p:txBody>
      </p:sp>
      <p:pic>
        <p:nvPicPr>
          <p:cNvPr id="262" name="Google Shape;262;p38"/>
          <p:cNvPicPr preferRelativeResize="0">
            <a:picLocks noGrp="1"/>
          </p:cNvPicPr>
          <p:nvPr>
            <p:ph idx="1"/>
          </p:nvPr>
        </p:nvPicPr>
        <p:blipFill rotWithShape="1">
          <a:blip r:embed="rId3">
            <a:alphaModFix/>
          </a:blip>
          <a:stretch/>
        </p:blipFill>
        <p:spPr>
          <a:xfrm>
            <a:off x="1226344" y="3444081"/>
            <a:ext cx="5114925" cy="1314450"/>
          </a:xfrm>
          <a:prstGeom prst="rect">
            <a:avLst/>
          </a:prstGeom>
          <a:noFill/>
          <a:ln>
            <a:noFill/>
          </a:ln>
        </p:spPr>
      </p:pic>
      <p:sp>
        <p:nvSpPr>
          <p:cNvPr id="263" name="Google Shape;263;p38"/>
          <p:cNvSpPr/>
          <p:nvPr/>
        </p:nvSpPr>
        <p:spPr>
          <a:xfrm>
            <a:off x="1691680" y="4941168"/>
            <a:ext cx="597666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Palatino Linotype"/>
                <a:ea typeface="Palatino Linotype"/>
                <a:cs typeface="Palatino Linotype"/>
                <a:sym typeface="Palatino Linotype"/>
              </a:rPr>
              <a:t>Frame formats. (a) DIX Ethernet,  (b) IEEE 802.3 </a:t>
            </a:r>
            <a:endParaRPr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9"/>
          <p:cNvSpPr txBox="1">
            <a:spLocks noGrp="1"/>
          </p:cNvSpPr>
          <p:nvPr>
            <p:ph idx="1"/>
          </p:nvPr>
        </p:nvSpPr>
        <p:spPr>
          <a:xfrm>
            <a:off x="457200" y="548680"/>
            <a:ext cx="8229600" cy="557748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b="1"/>
              <a:t>Preamble:</a:t>
            </a:r>
            <a:r>
              <a:rPr lang="en-US"/>
              <a:t> 8B; each containing 10101010(except the last byte last 2bits as 11) This last byte is called as </a:t>
            </a:r>
            <a:r>
              <a:rPr lang="en-US" b="1"/>
              <a:t>Start of frame delimiter </a:t>
            </a:r>
            <a:r>
              <a:rPr lang="en-US"/>
              <a:t>for 802.3.</a:t>
            </a:r>
            <a:endParaRPr/>
          </a:p>
          <a:p>
            <a:pPr marL="342900" lvl="0" indent="-342900" algn="just" rtl="0">
              <a:spcBef>
                <a:spcPts val="480"/>
              </a:spcBef>
              <a:spcAft>
                <a:spcPts val="0"/>
              </a:spcAft>
              <a:buClr>
                <a:srgbClr val="7F7F7F"/>
              </a:buClr>
              <a:buSzPts val="2400"/>
              <a:buChar char="•"/>
            </a:pPr>
            <a:r>
              <a:rPr lang="en-US" b="1"/>
              <a:t>Address</a:t>
            </a:r>
            <a:r>
              <a:rPr lang="en-US"/>
              <a:t>: 2address, each of 6B long. The 1</a:t>
            </a:r>
            <a:r>
              <a:rPr lang="en-US" baseline="30000"/>
              <a:t>st</a:t>
            </a:r>
            <a:r>
              <a:rPr lang="en-US"/>
              <a:t> transmitted bit of destination address is a 0 for ordinary address and 1 for group addresses[</a:t>
            </a:r>
            <a:r>
              <a:rPr lang="en-US" b="1"/>
              <a:t>multicasting</a:t>
            </a:r>
            <a:r>
              <a:rPr lang="en-US"/>
              <a:t>].Special address consisting of all 1bits is reserved for </a:t>
            </a:r>
            <a:r>
              <a:rPr lang="en-US" b="1"/>
              <a:t>broadcasting</a:t>
            </a:r>
            <a:r>
              <a:rPr lang="en-US"/>
              <a:t>. Source addresses are assigned by IEEE that are unique globally.</a:t>
            </a:r>
            <a:endParaRPr/>
          </a:p>
          <a:p>
            <a:pPr marL="342900" lvl="0" indent="-342900" algn="just" rtl="0">
              <a:spcBef>
                <a:spcPts val="480"/>
              </a:spcBef>
              <a:spcAft>
                <a:spcPts val="0"/>
              </a:spcAft>
              <a:buClr>
                <a:srgbClr val="7F7F7F"/>
              </a:buClr>
              <a:buSzPts val="2400"/>
              <a:buChar char="•"/>
            </a:pPr>
            <a:r>
              <a:rPr lang="en-US"/>
              <a:t>First 3B are used for OUI[Org Unique Id], and last 3B are assigned by manufacturer. Thus 6B address are programed in NIC.</a:t>
            </a:r>
            <a:endParaRPr/>
          </a:p>
          <a:p>
            <a:pPr marL="342900" lvl="0" indent="-190500" algn="just" rtl="0">
              <a:spcBef>
                <a:spcPts val="480"/>
              </a:spcBef>
              <a:spcAft>
                <a:spcPts val="0"/>
              </a:spcAft>
              <a:buClr>
                <a:srgbClr val="7F7F7F"/>
              </a:buClr>
              <a:buSzPts val="2400"/>
              <a:buNone/>
            </a:pPr>
            <a:endParaRPr/>
          </a:p>
          <a:p>
            <a:pPr marL="342900" lvl="0" indent="-190500" algn="just" rtl="0">
              <a:spcBef>
                <a:spcPts val="480"/>
              </a:spcBef>
              <a:spcAft>
                <a:spcPts val="0"/>
              </a:spcAft>
              <a:buClr>
                <a:srgbClr val="7F7F7F"/>
              </a:buClr>
              <a:buSzPts val="24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0"/>
          <p:cNvSpPr txBox="1">
            <a:spLocks noGrp="1"/>
          </p:cNvSpPr>
          <p:nvPr>
            <p:ph idx="1"/>
          </p:nvPr>
        </p:nvSpPr>
        <p:spPr>
          <a:xfrm>
            <a:off x="457200" y="332656"/>
            <a:ext cx="8229600" cy="579350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b="1"/>
              <a:t>Type/Length: </a:t>
            </a:r>
            <a:r>
              <a:rPr lang="en-US"/>
              <a:t>[Whether Ethernet or 802.3]. Ethernet uses type field to tell the receiver what to do with the frame. (eg 0x0800 -&gt; IPv$4). IEEE 802.3 uses this field to carry length of the frame.</a:t>
            </a:r>
            <a:endParaRPr/>
          </a:p>
          <a:p>
            <a:pPr marL="342900" lvl="0" indent="-342900" algn="l" rtl="0">
              <a:spcBef>
                <a:spcPts val="480"/>
              </a:spcBef>
              <a:spcAft>
                <a:spcPts val="0"/>
              </a:spcAft>
              <a:buClr>
                <a:srgbClr val="7F7F7F"/>
              </a:buClr>
              <a:buSzPts val="2400"/>
              <a:buChar char="•"/>
            </a:pPr>
            <a:r>
              <a:rPr lang="en-US"/>
              <a:t>Any no less than 0x600(1536) -&gt; type</a:t>
            </a:r>
            <a:endParaRPr/>
          </a:p>
          <a:p>
            <a:pPr marL="342900" lvl="0" indent="-342900" algn="l" rtl="0">
              <a:spcBef>
                <a:spcPts val="480"/>
              </a:spcBef>
              <a:spcAft>
                <a:spcPts val="0"/>
              </a:spcAft>
              <a:buClr>
                <a:srgbClr val="7F7F7F"/>
              </a:buClr>
              <a:buSzPts val="2400"/>
              <a:buChar char="•"/>
            </a:pPr>
            <a:r>
              <a:rPr lang="en-US"/>
              <a:t>Any no grater than 0x600 can be interpreted as Length.</a:t>
            </a:r>
            <a:endParaRPr/>
          </a:p>
          <a:p>
            <a:pPr marL="342900" lvl="0" indent="-342900" algn="l" rtl="0">
              <a:spcBef>
                <a:spcPts val="480"/>
              </a:spcBef>
              <a:spcAft>
                <a:spcPts val="0"/>
              </a:spcAft>
              <a:buClr>
                <a:srgbClr val="7F7F7F"/>
              </a:buClr>
              <a:buSzPts val="2400"/>
              <a:buChar char="•"/>
            </a:pPr>
            <a:r>
              <a:rPr lang="en-US" b="1"/>
              <a:t>Data:</a:t>
            </a:r>
            <a:r>
              <a:rPr lang="en-US"/>
              <a:t> 1500B. </a:t>
            </a:r>
            <a:endParaRPr/>
          </a:p>
          <a:p>
            <a:pPr marL="342900" lvl="0" indent="-342900" algn="l" rtl="0">
              <a:spcBef>
                <a:spcPts val="480"/>
              </a:spcBef>
              <a:spcAft>
                <a:spcPts val="0"/>
              </a:spcAft>
              <a:buClr>
                <a:srgbClr val="7F7F7F"/>
              </a:buClr>
              <a:buSzPts val="2400"/>
              <a:buChar char="•"/>
            </a:pPr>
            <a:r>
              <a:rPr lang="en-US"/>
              <a:t>Min length 64B from Dest. add to checksum.</a:t>
            </a:r>
            <a:endParaRPr/>
          </a:p>
          <a:p>
            <a:pPr marL="342900" lvl="0" indent="-342900" algn="l" rtl="0">
              <a:spcBef>
                <a:spcPts val="480"/>
              </a:spcBef>
              <a:spcAft>
                <a:spcPts val="0"/>
              </a:spcAft>
              <a:buClr>
                <a:srgbClr val="7F7F7F"/>
              </a:buClr>
              <a:buSzPts val="2400"/>
              <a:buChar char="•"/>
            </a:pPr>
            <a:r>
              <a:rPr lang="en-US"/>
              <a:t>6+6+2+v+4=64; =&gt; D+padd=46B</a:t>
            </a:r>
            <a:endParaRPr/>
          </a:p>
          <a:p>
            <a:pPr marL="342900" lvl="0" indent="-342900" algn="l" rtl="0">
              <a:spcBef>
                <a:spcPts val="480"/>
              </a:spcBef>
              <a:spcAft>
                <a:spcPts val="0"/>
              </a:spcAft>
              <a:buClr>
                <a:srgbClr val="7F7F7F"/>
              </a:buClr>
              <a:buSzPts val="2400"/>
              <a:buChar char="•"/>
            </a:pPr>
            <a:r>
              <a:rPr lang="en-US" b="1"/>
              <a:t>Checksum: </a:t>
            </a:r>
            <a:r>
              <a:rPr lang="en-US"/>
              <a:t>32bit CRC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1"/>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Wireless LAN Protocol</a:t>
            </a:r>
            <a:endParaRPr/>
          </a:p>
        </p:txBody>
      </p:sp>
      <p:sp>
        <p:nvSpPr>
          <p:cNvPr id="280" name="Google Shape;280;p41"/>
          <p:cNvSpPr txBox="1">
            <a:spLocks noGrp="1"/>
          </p:cNvSpPr>
          <p:nvPr>
            <p:ph idx="1"/>
          </p:nvPr>
        </p:nvSpPr>
        <p:spPr>
          <a:xfrm>
            <a:off x="457200" y="980728"/>
            <a:ext cx="8229600" cy="561662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a:t>A system of laptop that communicates using radio can be regarded as wireless LAN. Such a LAN is an example of broadcast ch.</a:t>
            </a:r>
            <a:endParaRPr/>
          </a:p>
          <a:p>
            <a:pPr marL="342900" lvl="0" indent="-342900" algn="just" rtl="0">
              <a:spcBef>
                <a:spcPts val="480"/>
              </a:spcBef>
              <a:spcAft>
                <a:spcPts val="0"/>
              </a:spcAft>
              <a:buClr>
                <a:srgbClr val="7F7F7F"/>
              </a:buClr>
              <a:buSzPts val="2400"/>
              <a:buChar char="•"/>
            </a:pPr>
            <a:r>
              <a:rPr lang="en-US"/>
              <a:t>It has different props than wired LAN hence different MAC protocol.</a:t>
            </a:r>
            <a:endParaRPr/>
          </a:p>
          <a:p>
            <a:pPr marL="342900" lvl="0" indent="-190500" algn="just" rtl="0">
              <a:spcBef>
                <a:spcPts val="480"/>
              </a:spcBef>
              <a:spcAft>
                <a:spcPts val="0"/>
              </a:spcAft>
              <a:buClr>
                <a:srgbClr val="7F7F7F"/>
              </a:buClr>
              <a:buSzPts val="2400"/>
              <a:buNone/>
            </a:pPr>
            <a:endParaRPr/>
          </a:p>
          <a:p>
            <a:pPr marL="342900" lvl="0" indent="-342900" algn="just" rtl="0">
              <a:spcBef>
                <a:spcPts val="480"/>
              </a:spcBef>
              <a:spcAft>
                <a:spcPts val="0"/>
              </a:spcAft>
              <a:buClr>
                <a:srgbClr val="7F7F7F"/>
              </a:buClr>
              <a:buSzPts val="2400"/>
              <a:buChar char="•"/>
            </a:pPr>
            <a:r>
              <a:rPr lang="en-US"/>
              <a:t>The CSMA approach is not good for wireless bcoz </a:t>
            </a:r>
            <a:r>
              <a:rPr lang="en-US" b="1"/>
              <a:t>interference is at receiver and not sender.</a:t>
            </a:r>
            <a:endParaRPr/>
          </a:p>
          <a:p>
            <a:pPr marL="342900" lvl="0" indent="-190500" algn="just" rtl="0">
              <a:spcBef>
                <a:spcPts val="480"/>
              </a:spcBef>
              <a:spcAft>
                <a:spcPts val="0"/>
              </a:spcAft>
              <a:buClr>
                <a:srgbClr val="7F7F7F"/>
              </a:buClr>
              <a:buSzPts val="24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2"/>
          <p:cNvSpPr txBox="1">
            <a:spLocks noGrp="1"/>
          </p:cNvSpPr>
          <p:nvPr>
            <p:ph idx="1"/>
          </p:nvPr>
        </p:nvSpPr>
        <p:spPr>
          <a:xfrm>
            <a:off x="467544" y="260648"/>
            <a:ext cx="8229600" cy="633670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FF0000"/>
              </a:buClr>
              <a:buSzPts val="2400"/>
              <a:buChar char="•"/>
            </a:pPr>
            <a:r>
              <a:rPr lang="en-US" b="1">
                <a:solidFill>
                  <a:srgbClr val="FF0000"/>
                </a:solidFill>
              </a:rPr>
              <a:t>Problems:</a:t>
            </a:r>
            <a:endParaRPr/>
          </a:p>
          <a:p>
            <a:pPr marL="342900" lvl="0" indent="-342900" algn="just" rtl="0">
              <a:spcBef>
                <a:spcPts val="480"/>
              </a:spcBef>
              <a:spcAft>
                <a:spcPts val="0"/>
              </a:spcAft>
              <a:buClr>
                <a:srgbClr val="7F7F7F"/>
              </a:buClr>
              <a:buSzPts val="2400"/>
              <a:buChar char="•"/>
            </a:pPr>
            <a:r>
              <a:rPr lang="en-US"/>
              <a:t>Refer fig, The radio range is such that </a:t>
            </a:r>
            <a:r>
              <a:rPr lang="en-US" b="1"/>
              <a:t>A</a:t>
            </a:r>
            <a:r>
              <a:rPr lang="en-US"/>
              <a:t> and </a:t>
            </a:r>
            <a:r>
              <a:rPr lang="en-US" b="1"/>
              <a:t>B</a:t>
            </a:r>
            <a:r>
              <a:rPr lang="en-US"/>
              <a:t> are </a:t>
            </a:r>
            <a:r>
              <a:rPr lang="en-US" b="1"/>
              <a:t>within each others range </a:t>
            </a:r>
            <a:r>
              <a:rPr lang="en-US"/>
              <a:t>and can potentially </a:t>
            </a:r>
            <a:r>
              <a:rPr lang="en-US" b="1"/>
              <a:t>interfere</a:t>
            </a:r>
            <a:r>
              <a:rPr lang="en-US"/>
              <a:t> with one another. </a:t>
            </a:r>
            <a:r>
              <a:rPr lang="en-US" b="1"/>
              <a:t>C </a:t>
            </a:r>
            <a:r>
              <a:rPr lang="en-US"/>
              <a:t> can also potentially </a:t>
            </a:r>
            <a:r>
              <a:rPr lang="en-US" b="1"/>
              <a:t>interfere</a:t>
            </a:r>
            <a:r>
              <a:rPr lang="en-US"/>
              <a:t> with both </a:t>
            </a:r>
            <a:r>
              <a:rPr lang="en-US" b="1"/>
              <a:t>B and D</a:t>
            </a:r>
            <a:r>
              <a:rPr lang="en-US"/>
              <a:t>, but </a:t>
            </a:r>
            <a:r>
              <a:rPr lang="en-US" b="1"/>
              <a:t>not</a:t>
            </a:r>
            <a:r>
              <a:rPr lang="en-US"/>
              <a:t> with </a:t>
            </a:r>
            <a:r>
              <a:rPr lang="en-US" b="1"/>
              <a:t>A.</a:t>
            </a:r>
            <a:endParaRPr/>
          </a:p>
          <a:p>
            <a:pPr marL="742950" lvl="1" indent="-184150" algn="just" rtl="0">
              <a:spcBef>
                <a:spcPts val="320"/>
              </a:spcBef>
              <a:spcAft>
                <a:spcPts val="0"/>
              </a:spcAft>
              <a:buClr>
                <a:srgbClr val="7F7F7F"/>
              </a:buClr>
              <a:buSzPts val="1600"/>
              <a:buNone/>
            </a:pPr>
            <a:endParaRPr/>
          </a:p>
        </p:txBody>
      </p:sp>
      <p:sp>
        <p:nvSpPr>
          <p:cNvPr id="286" name="Google Shape;286;p42"/>
          <p:cNvSpPr/>
          <p:nvPr/>
        </p:nvSpPr>
        <p:spPr>
          <a:xfrm>
            <a:off x="143669" y="5957094"/>
            <a:ext cx="8856662" cy="64146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A wireless LAN. </a:t>
            </a:r>
            <a:r>
              <a:rPr lang="en-US" sz="2400">
                <a:solidFill>
                  <a:srgbClr val="576063"/>
                </a:solidFill>
                <a:latin typeface="Arial"/>
                <a:ea typeface="Arial"/>
                <a:cs typeface="Arial"/>
                <a:sym typeface="Arial"/>
              </a:rPr>
              <a:t>(a)</a:t>
            </a:r>
            <a:r>
              <a:rPr lang="en-US" sz="2400">
                <a:solidFill>
                  <a:schemeClr val="dk1"/>
                </a:solidFill>
                <a:latin typeface="Arial"/>
                <a:ea typeface="Arial"/>
                <a:cs typeface="Arial"/>
                <a:sym typeface="Arial"/>
              </a:rPr>
              <a:t> A and C are hidden terminals </a:t>
            </a:r>
            <a:br>
              <a:rPr lang="en-US" sz="2400">
                <a:solidFill>
                  <a:schemeClr val="dk1"/>
                </a:solidFill>
                <a:latin typeface="Arial"/>
                <a:ea typeface="Arial"/>
                <a:cs typeface="Arial"/>
                <a:sym typeface="Arial"/>
              </a:rPr>
            </a:br>
            <a:r>
              <a:rPr lang="en-US" sz="2400">
                <a:solidFill>
                  <a:schemeClr val="dk1"/>
                </a:solidFill>
                <a:latin typeface="Arial"/>
                <a:ea typeface="Arial"/>
                <a:cs typeface="Arial"/>
                <a:sym typeface="Arial"/>
              </a:rPr>
              <a:t>when transmitting to B.</a:t>
            </a:r>
            <a:endParaRPr/>
          </a:p>
          <a:p>
            <a:pPr marL="0" marR="0" lvl="0" indent="0" algn="ctr" rtl="0">
              <a:spcBef>
                <a:spcPts val="480"/>
              </a:spcBef>
              <a:spcAft>
                <a:spcPts val="0"/>
              </a:spcAft>
              <a:buClr>
                <a:schemeClr val="accent2"/>
              </a:buClr>
              <a:buSzPts val="2400"/>
              <a:buFont typeface="Arial"/>
              <a:buNone/>
            </a:pPr>
            <a:endParaRPr sz="2400">
              <a:solidFill>
                <a:schemeClr val="dk1"/>
              </a:solidFill>
              <a:latin typeface="Arial"/>
              <a:ea typeface="Arial"/>
              <a:cs typeface="Arial"/>
              <a:sym typeface="Arial"/>
            </a:endParaRPr>
          </a:p>
        </p:txBody>
      </p:sp>
      <p:pic>
        <p:nvPicPr>
          <p:cNvPr id="287" name="Google Shape;287;p42"/>
          <p:cNvPicPr preferRelativeResize="0"/>
          <p:nvPr/>
        </p:nvPicPr>
        <p:blipFill rotWithShape="1">
          <a:blip r:embed="rId3">
            <a:alphaModFix/>
          </a:blip>
          <a:srcRect/>
          <a:stretch/>
        </p:blipFill>
        <p:spPr>
          <a:xfrm>
            <a:off x="1685131" y="2414277"/>
            <a:ext cx="5715000" cy="331897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3"/>
          <p:cNvSpPr txBox="1">
            <a:spLocks noGrp="1"/>
          </p:cNvSpPr>
          <p:nvPr>
            <p:ph idx="1"/>
          </p:nvPr>
        </p:nvSpPr>
        <p:spPr>
          <a:xfrm>
            <a:off x="457200" y="332656"/>
            <a:ext cx="8229600" cy="6336704"/>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800"/>
              <a:buChar char="•"/>
            </a:pPr>
            <a:r>
              <a:rPr lang="en-US" sz="2800" b="1"/>
              <a:t>1. What happens when A and C transmit to B.</a:t>
            </a:r>
            <a:endParaRPr/>
          </a:p>
          <a:p>
            <a:pPr marL="342900" lvl="0" indent="-165100" algn="just" rtl="0">
              <a:spcBef>
                <a:spcPts val="560"/>
              </a:spcBef>
              <a:spcAft>
                <a:spcPts val="0"/>
              </a:spcAft>
              <a:buClr>
                <a:srgbClr val="7F7F7F"/>
              </a:buClr>
              <a:buSzPts val="2800"/>
              <a:buNone/>
            </a:pPr>
            <a:endParaRPr sz="2800" b="1"/>
          </a:p>
          <a:p>
            <a:pPr marL="342900" lvl="0" indent="-342900" algn="just" rtl="0">
              <a:spcBef>
                <a:spcPts val="480"/>
              </a:spcBef>
              <a:spcAft>
                <a:spcPts val="0"/>
              </a:spcAft>
              <a:buClr>
                <a:srgbClr val="7F7F7F"/>
              </a:buClr>
              <a:buSzPts val="2400"/>
              <a:buChar char="•"/>
            </a:pPr>
            <a:r>
              <a:rPr lang="en-US" b="1"/>
              <a:t>If A sends and immediately C senses the medium, it will not hear A, since not in range.</a:t>
            </a:r>
            <a:endParaRPr/>
          </a:p>
          <a:p>
            <a:pPr marL="342900" lvl="0" indent="-342900" algn="just" rtl="0">
              <a:spcBef>
                <a:spcPts val="480"/>
              </a:spcBef>
              <a:spcAft>
                <a:spcPts val="0"/>
              </a:spcAft>
              <a:buClr>
                <a:srgbClr val="7F7F7F"/>
              </a:buClr>
              <a:buSzPts val="2400"/>
              <a:buChar char="•"/>
            </a:pPr>
            <a:r>
              <a:rPr lang="en-US" b="1"/>
              <a:t>Thus C falsely conclude that it can send to B.</a:t>
            </a:r>
            <a:endParaRPr/>
          </a:p>
          <a:p>
            <a:pPr marL="342900" lvl="0" indent="-342900" algn="just" rtl="0">
              <a:spcBef>
                <a:spcPts val="480"/>
              </a:spcBef>
              <a:spcAft>
                <a:spcPts val="0"/>
              </a:spcAft>
              <a:buClr>
                <a:srgbClr val="7F7F7F"/>
              </a:buClr>
              <a:buSzPts val="2400"/>
              <a:buChar char="•"/>
            </a:pPr>
            <a:r>
              <a:rPr lang="en-US" b="1"/>
              <a:t>If C sends transmitting , it will interfere at B.</a:t>
            </a:r>
            <a:endParaRPr/>
          </a:p>
          <a:p>
            <a:pPr marL="342900" lvl="0" indent="-342900" algn="just" rtl="0">
              <a:spcBef>
                <a:spcPts val="480"/>
              </a:spcBef>
              <a:spcAft>
                <a:spcPts val="0"/>
              </a:spcAft>
              <a:buClr>
                <a:srgbClr val="7F7F7F"/>
              </a:buClr>
              <a:buSzPts val="2400"/>
              <a:buChar char="•"/>
            </a:pPr>
            <a:r>
              <a:rPr lang="en-US" b="1"/>
              <a:t>We want a MAC protocol that will prevent this kind of collision from happening bcoz it will waste the BW.</a:t>
            </a:r>
            <a:endParaRPr/>
          </a:p>
          <a:p>
            <a:pPr marL="342900" lvl="0" indent="-342900" algn="just" rtl="0">
              <a:spcBef>
                <a:spcPts val="480"/>
              </a:spcBef>
              <a:spcAft>
                <a:spcPts val="0"/>
              </a:spcAft>
              <a:buClr>
                <a:srgbClr val="7F7F7F"/>
              </a:buClr>
              <a:buSzPts val="2400"/>
              <a:buChar char="•"/>
            </a:pPr>
            <a:r>
              <a:rPr lang="en-US" b="1"/>
              <a:t>The problem of a station not being able to detect a potential competitor for the medium bcoz its too far away is called the </a:t>
            </a:r>
            <a:r>
              <a:rPr lang="en-US" b="1">
                <a:solidFill>
                  <a:srgbClr val="FF0000"/>
                </a:solidFill>
              </a:rPr>
              <a:t>hidden terminal problem</a:t>
            </a:r>
            <a:endParaRPr b="1">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4"/>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298" name="Google Shape;298;p4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299" name="Google Shape;299;p44"/>
          <p:cNvSpPr/>
          <p:nvPr/>
        </p:nvSpPr>
        <p:spPr>
          <a:xfrm>
            <a:off x="143669" y="5111750"/>
            <a:ext cx="8856662" cy="838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A wireless LAN</a:t>
            </a:r>
            <a:r>
              <a:rPr lang="en-US" sz="2400" i="1">
                <a:solidFill>
                  <a:schemeClr val="dk1"/>
                </a:solidFill>
                <a:latin typeface="Arial"/>
                <a:ea typeface="Arial"/>
                <a:cs typeface="Arial"/>
                <a:sym typeface="Arial"/>
              </a:rPr>
              <a:t>. </a:t>
            </a:r>
            <a:r>
              <a:rPr lang="en-US" sz="2400">
                <a:solidFill>
                  <a:srgbClr val="576063"/>
                </a:solidFill>
                <a:latin typeface="Arial"/>
                <a:ea typeface="Arial"/>
                <a:cs typeface="Arial"/>
                <a:sym typeface="Arial"/>
              </a:rPr>
              <a:t>(b) </a:t>
            </a:r>
            <a:r>
              <a:rPr lang="en-US" sz="2400">
                <a:solidFill>
                  <a:schemeClr val="dk1"/>
                </a:solidFill>
                <a:latin typeface="Arial"/>
                <a:ea typeface="Arial"/>
                <a:cs typeface="Arial"/>
                <a:sym typeface="Arial"/>
              </a:rPr>
              <a:t>B and C are exposed terminals when transmitting to A and D.</a:t>
            </a:r>
            <a:endParaRPr/>
          </a:p>
        </p:txBody>
      </p:sp>
      <p:pic>
        <p:nvPicPr>
          <p:cNvPr id="300" name="Google Shape;300;p44"/>
          <p:cNvPicPr preferRelativeResize="0"/>
          <p:nvPr/>
        </p:nvPicPr>
        <p:blipFill rotWithShape="1">
          <a:blip r:embed="rId3">
            <a:alphaModFix/>
          </a:blip>
          <a:srcRect/>
          <a:stretch/>
        </p:blipFill>
        <p:spPr>
          <a:xfrm>
            <a:off x="1685131" y="908050"/>
            <a:ext cx="5638800" cy="3733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5"/>
          <p:cNvSpPr txBox="1">
            <a:spLocks noGrp="1"/>
          </p:cNvSpPr>
          <p:nvPr>
            <p:ph idx="1"/>
          </p:nvPr>
        </p:nvSpPr>
        <p:spPr>
          <a:xfrm>
            <a:off x="457200" y="404664"/>
            <a:ext cx="8229600" cy="6264696"/>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rgbClr val="7F7F7F"/>
              </a:buClr>
              <a:buSzPts val="2400"/>
              <a:buNone/>
            </a:pPr>
            <a:r>
              <a:rPr lang="en-US" b="1"/>
              <a:t>2. B transmitting to A at the same time that C wants to transmit to D.</a:t>
            </a:r>
            <a:endParaRPr/>
          </a:p>
          <a:p>
            <a:pPr marL="0" lvl="0" indent="0" algn="just" rtl="0">
              <a:spcBef>
                <a:spcPts val="480"/>
              </a:spcBef>
              <a:spcAft>
                <a:spcPts val="0"/>
              </a:spcAft>
              <a:buClr>
                <a:srgbClr val="7F7F7F"/>
              </a:buClr>
              <a:buSzPts val="2400"/>
              <a:buNone/>
            </a:pPr>
            <a:endParaRPr b="1"/>
          </a:p>
          <a:p>
            <a:pPr marL="342900" lvl="0" indent="-342900" algn="just" rtl="0">
              <a:spcBef>
                <a:spcPts val="480"/>
              </a:spcBef>
              <a:spcAft>
                <a:spcPts val="0"/>
              </a:spcAft>
              <a:buClr>
                <a:srgbClr val="7F7F7F"/>
              </a:buClr>
              <a:buSzPts val="2400"/>
              <a:buChar char="•"/>
            </a:pPr>
            <a:r>
              <a:rPr lang="en-US" b="1"/>
              <a:t>If C senses the medium, it will hear a transmission (from B) and falsely conclude that it may not send to D(dotted lines in fig).</a:t>
            </a:r>
            <a:endParaRPr/>
          </a:p>
          <a:p>
            <a:pPr marL="342900" lvl="0" indent="-342900" algn="just" rtl="0">
              <a:spcBef>
                <a:spcPts val="480"/>
              </a:spcBef>
              <a:spcAft>
                <a:spcPts val="0"/>
              </a:spcAft>
              <a:buClr>
                <a:srgbClr val="7F7F7F"/>
              </a:buClr>
              <a:buSzPts val="2400"/>
              <a:buChar char="•"/>
            </a:pPr>
            <a:r>
              <a:rPr lang="en-US" b="1"/>
              <a:t>Such a transmission would cause bad reception only in the zone between B and C, where neither of the intended receivers is located.</a:t>
            </a:r>
            <a:endParaRPr/>
          </a:p>
          <a:p>
            <a:pPr marL="342900" lvl="0" indent="-342900" algn="just" rtl="0">
              <a:spcBef>
                <a:spcPts val="480"/>
              </a:spcBef>
              <a:spcAft>
                <a:spcPts val="0"/>
              </a:spcAft>
              <a:buClr>
                <a:srgbClr val="7F7F7F"/>
              </a:buClr>
              <a:buSzPts val="2400"/>
              <a:buChar char="•"/>
            </a:pPr>
            <a:r>
              <a:rPr lang="en-US" b="1"/>
              <a:t>We want a MAC protocol that prevents this kind of deferral from happening bcoz it will waste the BW.</a:t>
            </a:r>
            <a:endParaRPr/>
          </a:p>
          <a:p>
            <a:pPr marL="342900" lvl="0" indent="-342900" algn="just" rtl="0">
              <a:spcBef>
                <a:spcPts val="480"/>
              </a:spcBef>
              <a:spcAft>
                <a:spcPts val="0"/>
              </a:spcAft>
              <a:buClr>
                <a:srgbClr val="7F7F7F"/>
              </a:buClr>
              <a:buSzPts val="2400"/>
              <a:buChar char="•"/>
            </a:pPr>
            <a:r>
              <a:rPr lang="en-US" b="1"/>
              <a:t>The problem is called the </a:t>
            </a:r>
            <a:r>
              <a:rPr lang="en-US" b="1">
                <a:solidFill>
                  <a:srgbClr val="FF0000"/>
                </a:solidFill>
              </a:rPr>
              <a:t>exposed terminal problem.</a:t>
            </a:r>
            <a:endParaRPr b="1">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6"/>
          <p:cNvSpPr txBox="1">
            <a:spLocks noGrp="1"/>
          </p:cNvSpPr>
          <p:nvPr>
            <p:ph idx="1"/>
          </p:nvPr>
        </p:nvSpPr>
        <p:spPr>
          <a:xfrm>
            <a:off x="457200" y="116632"/>
            <a:ext cx="8229600" cy="6552728"/>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ct val="100000"/>
              <a:buChar char="•"/>
            </a:pPr>
            <a:r>
              <a:rPr lang="en-US"/>
              <a:t>The difficulty is that, before starting a transmission, a station really wants to know whether there is radio activity around the receiver. CSMA merely tells it whether there is activity near the transmitter by sensing the carrier.</a:t>
            </a:r>
            <a:endParaRPr/>
          </a:p>
          <a:p>
            <a:pPr marL="342900" lvl="0" indent="-342900" algn="just" rtl="0">
              <a:spcBef>
                <a:spcPts val="444"/>
              </a:spcBef>
              <a:spcAft>
                <a:spcPts val="0"/>
              </a:spcAft>
              <a:buClr>
                <a:srgbClr val="7F7F7F"/>
              </a:buClr>
              <a:buSzPct val="100000"/>
              <a:buChar char="•"/>
            </a:pPr>
            <a:r>
              <a:rPr lang="en-US"/>
              <a:t>In a systems based on short-range radio waves, multiple transmissions can occur simultaneously if they all have different destination.</a:t>
            </a:r>
            <a:endParaRPr/>
          </a:p>
          <a:p>
            <a:pPr marL="342900" lvl="0" indent="-342900" algn="just" rtl="0">
              <a:spcBef>
                <a:spcPts val="444"/>
              </a:spcBef>
              <a:spcAft>
                <a:spcPts val="0"/>
              </a:spcAft>
              <a:buClr>
                <a:srgbClr val="7F7F7F"/>
              </a:buClr>
              <a:buSzPct val="100000"/>
              <a:buChar char="•"/>
            </a:pPr>
            <a:r>
              <a:rPr lang="en-US"/>
              <a:t>We want this concurrency to happen as the cell gets larger and larger.</a:t>
            </a:r>
            <a:endParaRPr/>
          </a:p>
          <a:p>
            <a:pPr marL="342900" lvl="0" indent="-201930" algn="just" rtl="0">
              <a:spcBef>
                <a:spcPts val="444"/>
              </a:spcBef>
              <a:spcAft>
                <a:spcPts val="0"/>
              </a:spcAft>
              <a:buClr>
                <a:srgbClr val="7F7F7F"/>
              </a:buClr>
              <a:buSzPct val="100000"/>
              <a:buNone/>
            </a:pPr>
            <a:endParaRPr/>
          </a:p>
          <a:p>
            <a:pPr marL="342900" lvl="0" indent="-342900" algn="just" rtl="0">
              <a:spcBef>
                <a:spcPts val="444"/>
              </a:spcBef>
              <a:spcAft>
                <a:spcPts val="0"/>
              </a:spcAft>
              <a:buClr>
                <a:srgbClr val="7F7F7F"/>
              </a:buClr>
              <a:buSzPct val="100000"/>
              <a:buChar char="•"/>
            </a:pPr>
            <a:r>
              <a:rPr lang="en-US"/>
              <a:t>The protocol that tackles these problems for wireless LANS is called </a:t>
            </a:r>
            <a:r>
              <a:rPr lang="en-US" b="1">
                <a:solidFill>
                  <a:srgbClr val="FF0000"/>
                </a:solidFill>
              </a:rPr>
              <a:t>MACA (Medium access with Collision Avoidance): </a:t>
            </a:r>
            <a:r>
              <a:rPr lang="en-US" b="1">
                <a:solidFill>
                  <a:schemeClr val="dk1"/>
                </a:solidFill>
              </a:rPr>
              <a:t>The ides is for the sender to simulate the receiver into outputting a short frame, so stations nearby can detect this transmission and avoid transmitting for the duration of the upcoming (large ) data frame. </a:t>
            </a:r>
            <a:r>
              <a:rPr lang="en-US">
                <a:solidFill>
                  <a:schemeClr val="dk1"/>
                </a:solidFill>
              </a:rPr>
              <a:t>This technique is used instead of carrier sense.</a:t>
            </a:r>
            <a:endParaRPr b="1">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7"/>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317" name="Google Shape;317;p47"/>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318" name="Google Shape;318;p47"/>
          <p:cNvSpPr/>
          <p:nvPr/>
        </p:nvSpPr>
        <p:spPr>
          <a:xfrm>
            <a:off x="143669" y="5083969"/>
            <a:ext cx="8856662" cy="838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The MACA protocol. (a) </a:t>
            </a:r>
            <a:r>
              <a:rPr lang="en-US" sz="2400" i="1">
                <a:solidFill>
                  <a:schemeClr val="dk1"/>
                </a:solidFill>
                <a:latin typeface="Arial"/>
                <a:ea typeface="Arial"/>
                <a:cs typeface="Arial"/>
                <a:sym typeface="Arial"/>
              </a:rPr>
              <a:t>A sending an RTS to B. (b) B responding </a:t>
            </a:r>
            <a:r>
              <a:rPr lang="en-US" sz="2400">
                <a:solidFill>
                  <a:schemeClr val="dk1"/>
                </a:solidFill>
                <a:latin typeface="Arial"/>
                <a:ea typeface="Arial"/>
                <a:cs typeface="Arial"/>
                <a:sym typeface="Arial"/>
              </a:rPr>
              <a:t>with a CTS to </a:t>
            </a:r>
            <a:r>
              <a:rPr lang="en-US" sz="2400" i="1">
                <a:solidFill>
                  <a:schemeClr val="dk1"/>
                </a:solidFill>
                <a:latin typeface="Arial"/>
                <a:ea typeface="Arial"/>
                <a:cs typeface="Arial"/>
                <a:sym typeface="Arial"/>
              </a:rPr>
              <a:t>A.</a:t>
            </a:r>
            <a:endParaRPr sz="2400">
              <a:solidFill>
                <a:schemeClr val="dk1"/>
              </a:solidFill>
              <a:latin typeface="Arial"/>
              <a:ea typeface="Arial"/>
              <a:cs typeface="Arial"/>
              <a:sym typeface="Arial"/>
            </a:endParaRPr>
          </a:p>
        </p:txBody>
      </p:sp>
      <p:pic>
        <p:nvPicPr>
          <p:cNvPr id="319" name="Google Shape;319;p47"/>
          <p:cNvPicPr preferRelativeResize="0"/>
          <p:nvPr/>
        </p:nvPicPr>
        <p:blipFill rotWithShape="1">
          <a:blip r:embed="rId3">
            <a:alphaModFix/>
          </a:blip>
          <a:srcRect/>
          <a:stretch/>
        </p:blipFill>
        <p:spPr>
          <a:xfrm>
            <a:off x="327819" y="935832"/>
            <a:ext cx="8201025" cy="37242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8"/>
          <p:cNvSpPr txBox="1">
            <a:spLocks noGrp="1"/>
          </p:cNvSpPr>
          <p:nvPr>
            <p:ph idx="1"/>
          </p:nvPr>
        </p:nvSpPr>
        <p:spPr>
          <a:xfrm>
            <a:off x="107504" y="0"/>
            <a:ext cx="9036496" cy="666936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b="1"/>
              <a:t>1. A sends frame to B.</a:t>
            </a:r>
            <a:endParaRPr/>
          </a:p>
          <a:p>
            <a:pPr marL="342900" lvl="0" indent="-342900" algn="just" rtl="0">
              <a:spcBef>
                <a:spcPts val="480"/>
              </a:spcBef>
              <a:spcAft>
                <a:spcPts val="0"/>
              </a:spcAft>
              <a:buClr>
                <a:srgbClr val="7F7F7F"/>
              </a:buClr>
              <a:buSzPts val="2400"/>
              <a:buChar char="•"/>
            </a:pPr>
            <a:r>
              <a:rPr lang="en-US" b="1"/>
              <a:t>A starts by sending an RTS frame to B.</a:t>
            </a:r>
            <a:endParaRPr/>
          </a:p>
          <a:p>
            <a:pPr marL="342900" lvl="0" indent="-342900" algn="just" rtl="0">
              <a:spcBef>
                <a:spcPts val="480"/>
              </a:spcBef>
              <a:spcAft>
                <a:spcPts val="0"/>
              </a:spcAft>
              <a:buClr>
                <a:srgbClr val="7F7F7F"/>
              </a:buClr>
              <a:buSzPts val="2400"/>
              <a:buChar char="•"/>
            </a:pPr>
            <a:r>
              <a:rPr lang="en-US" b="1"/>
              <a:t>This short frame(30B) contains the </a:t>
            </a:r>
            <a:r>
              <a:rPr lang="en-US" b="1">
                <a:solidFill>
                  <a:srgbClr val="FF0000"/>
                </a:solidFill>
              </a:rPr>
              <a:t>length of the data</a:t>
            </a:r>
            <a:r>
              <a:rPr lang="en-US" b="1"/>
              <a:t> frame that will eventually follow.</a:t>
            </a:r>
            <a:endParaRPr/>
          </a:p>
          <a:p>
            <a:pPr marL="342900" lvl="0" indent="-342900" algn="just" rtl="0">
              <a:spcBef>
                <a:spcPts val="480"/>
              </a:spcBef>
              <a:spcAft>
                <a:spcPts val="0"/>
              </a:spcAft>
              <a:buClr>
                <a:srgbClr val="7F7F7F"/>
              </a:buClr>
              <a:buSzPts val="2400"/>
              <a:buChar char="•"/>
            </a:pPr>
            <a:r>
              <a:rPr lang="en-US" b="1"/>
              <a:t>Then B replies with a CTS frame.</a:t>
            </a:r>
            <a:endParaRPr/>
          </a:p>
          <a:p>
            <a:pPr marL="342900" lvl="0" indent="-342900" algn="just" rtl="0">
              <a:spcBef>
                <a:spcPts val="480"/>
              </a:spcBef>
              <a:spcAft>
                <a:spcPts val="0"/>
              </a:spcAft>
              <a:buClr>
                <a:srgbClr val="7F7F7F"/>
              </a:buClr>
              <a:buSzPts val="2400"/>
              <a:buChar char="•"/>
            </a:pPr>
            <a:r>
              <a:rPr lang="en-US" b="1"/>
              <a:t>The CTS frame contains the </a:t>
            </a:r>
            <a:r>
              <a:rPr lang="en-US" b="1">
                <a:solidFill>
                  <a:srgbClr val="FF0000"/>
                </a:solidFill>
              </a:rPr>
              <a:t>data length(copied from RTS).</a:t>
            </a:r>
            <a:endParaRPr/>
          </a:p>
          <a:p>
            <a:pPr marL="342900" lvl="0" indent="-342900" algn="just" rtl="0">
              <a:spcBef>
                <a:spcPts val="480"/>
              </a:spcBef>
              <a:spcAft>
                <a:spcPts val="0"/>
              </a:spcAft>
              <a:buClr>
                <a:srgbClr val="7F7F7F"/>
              </a:buClr>
              <a:buSzPts val="2400"/>
              <a:buChar char="•"/>
            </a:pPr>
            <a:r>
              <a:rPr lang="en-US" b="1"/>
              <a:t>Upon receipt of the CTS frame, A begins transmission.</a:t>
            </a:r>
            <a:endParaRPr/>
          </a:p>
          <a:p>
            <a:pPr marL="342900" lvl="0" indent="-190500" algn="just" rtl="0">
              <a:spcBef>
                <a:spcPts val="480"/>
              </a:spcBef>
              <a:spcAft>
                <a:spcPts val="0"/>
              </a:spcAft>
              <a:buClr>
                <a:srgbClr val="7F7F7F"/>
              </a:buClr>
              <a:buSzPts val="2400"/>
              <a:buNone/>
            </a:pPr>
            <a:endParaRPr b="1"/>
          </a:p>
          <a:p>
            <a:pPr marL="342900" lvl="0" indent="-342900" algn="just" rtl="0">
              <a:spcBef>
                <a:spcPts val="480"/>
              </a:spcBef>
              <a:spcAft>
                <a:spcPts val="0"/>
              </a:spcAft>
              <a:buClr>
                <a:srgbClr val="7F7F7F"/>
              </a:buClr>
              <a:buSzPts val="2400"/>
              <a:buChar char="•"/>
            </a:pPr>
            <a:r>
              <a:rPr lang="en-US" b="1"/>
              <a:t>Now lets see how stations overhearing either of these frames react.</a:t>
            </a:r>
            <a:endParaRPr/>
          </a:p>
          <a:p>
            <a:pPr marL="342900" lvl="0" indent="-342900" algn="just" rtl="0">
              <a:spcBef>
                <a:spcPts val="480"/>
              </a:spcBef>
              <a:spcAft>
                <a:spcPts val="0"/>
              </a:spcAft>
              <a:buClr>
                <a:srgbClr val="7F7F7F"/>
              </a:buClr>
              <a:buSzPts val="2400"/>
              <a:buChar char="•"/>
            </a:pPr>
            <a:r>
              <a:rPr lang="en-US" b="1"/>
              <a:t>Any station hearing </a:t>
            </a:r>
            <a:r>
              <a:rPr lang="en-US" b="1">
                <a:solidFill>
                  <a:srgbClr val="FF0000"/>
                </a:solidFill>
              </a:rPr>
              <a:t>RTS</a:t>
            </a:r>
            <a:r>
              <a:rPr lang="en-US" b="1"/>
              <a:t> is clearly close to A and must remain silent long enough for the CTS to be transmitted back to A without conflict.</a:t>
            </a:r>
            <a:endParaRPr/>
          </a:p>
          <a:p>
            <a:pPr marL="342900" lvl="0" indent="-342900" algn="just" rtl="0">
              <a:spcBef>
                <a:spcPts val="480"/>
              </a:spcBef>
              <a:spcAft>
                <a:spcPts val="0"/>
              </a:spcAft>
              <a:buClr>
                <a:srgbClr val="7F7F7F"/>
              </a:buClr>
              <a:buSzPts val="2400"/>
              <a:buChar char="•"/>
            </a:pPr>
            <a:r>
              <a:rPr lang="en-US" b="1"/>
              <a:t>Any station hearing CTS is clearly close to B and must remain silent during the upcoming data transmission, whose </a:t>
            </a:r>
            <a:r>
              <a:rPr lang="en-US" b="1">
                <a:solidFill>
                  <a:srgbClr val="FF0000"/>
                </a:solidFill>
              </a:rPr>
              <a:t>length it can tell by examining the CTS frame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9"/>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330" name="Google Shape;330;p49"/>
          <p:cNvSpPr txBox="1">
            <a:spLocks noGrp="1"/>
          </p:cNvSpPr>
          <p:nvPr>
            <p:ph idx="1"/>
          </p:nvPr>
        </p:nvSpPr>
        <p:spPr>
          <a:xfrm>
            <a:off x="457200" y="3356992"/>
            <a:ext cx="8229600" cy="3312368"/>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ct val="100000"/>
              <a:buChar char="•"/>
            </a:pPr>
            <a:r>
              <a:rPr lang="en-US"/>
              <a:t>C is within range of A but not in range of B.</a:t>
            </a:r>
            <a:endParaRPr/>
          </a:p>
          <a:p>
            <a:pPr marL="342900" lvl="0" indent="-342900" algn="just" rtl="0">
              <a:spcBef>
                <a:spcPts val="444"/>
              </a:spcBef>
              <a:spcAft>
                <a:spcPts val="0"/>
              </a:spcAft>
              <a:buClr>
                <a:srgbClr val="7F7F7F"/>
              </a:buClr>
              <a:buSzPct val="100000"/>
              <a:buChar char="•"/>
            </a:pPr>
            <a:r>
              <a:rPr lang="en-US" b="1"/>
              <a:t>C hears RTS from A and not CTS from B.</a:t>
            </a:r>
            <a:endParaRPr/>
          </a:p>
          <a:p>
            <a:pPr marL="342900" lvl="0" indent="-342900" algn="just" rtl="0">
              <a:spcBef>
                <a:spcPts val="444"/>
              </a:spcBef>
              <a:spcAft>
                <a:spcPts val="0"/>
              </a:spcAft>
              <a:buClr>
                <a:srgbClr val="7F7F7F"/>
              </a:buClr>
              <a:buSzPct val="100000"/>
              <a:buChar char="•"/>
            </a:pPr>
            <a:r>
              <a:rPr lang="en-US"/>
              <a:t>As long as it does not interfere with CTS, it is free to transmit while the data frame is being sent.</a:t>
            </a:r>
            <a:endParaRPr/>
          </a:p>
          <a:p>
            <a:pPr marL="342900" lvl="0" indent="-342900" algn="just" rtl="0">
              <a:spcBef>
                <a:spcPts val="444"/>
              </a:spcBef>
              <a:spcAft>
                <a:spcPts val="0"/>
              </a:spcAft>
              <a:buClr>
                <a:srgbClr val="7F7F7F"/>
              </a:buClr>
              <a:buSzPct val="100000"/>
              <a:buChar char="•"/>
            </a:pPr>
            <a:r>
              <a:rPr lang="en-US"/>
              <a:t>In contrast, D is within the range of B and not A.</a:t>
            </a:r>
            <a:endParaRPr/>
          </a:p>
          <a:p>
            <a:pPr marL="342900" lvl="0" indent="-342900" algn="just" rtl="0">
              <a:spcBef>
                <a:spcPts val="444"/>
              </a:spcBef>
              <a:spcAft>
                <a:spcPts val="0"/>
              </a:spcAft>
              <a:buClr>
                <a:srgbClr val="7F7F7F"/>
              </a:buClr>
              <a:buSzPct val="100000"/>
              <a:buChar char="•"/>
            </a:pPr>
            <a:r>
              <a:rPr lang="en-US" b="1"/>
              <a:t>D hears CTS but not RTS.</a:t>
            </a:r>
            <a:endParaRPr/>
          </a:p>
          <a:p>
            <a:pPr marL="342900" lvl="0" indent="-342900" algn="just" rtl="0">
              <a:spcBef>
                <a:spcPts val="444"/>
              </a:spcBef>
              <a:spcAft>
                <a:spcPts val="0"/>
              </a:spcAft>
              <a:buClr>
                <a:srgbClr val="FF0000"/>
              </a:buClr>
              <a:buSzPct val="100000"/>
              <a:buChar char="•"/>
            </a:pPr>
            <a:r>
              <a:rPr lang="en-US" b="1">
                <a:solidFill>
                  <a:srgbClr val="FF0000"/>
                </a:solidFill>
              </a:rPr>
              <a:t>Hearing the CTS tips it off that it is close to a station that is about to receive a frame, so it defers sending anything until that frame is expected to be finished.</a:t>
            </a:r>
            <a:endParaRPr/>
          </a:p>
          <a:p>
            <a:pPr marL="342900" lvl="0" indent="-201930" algn="just" rtl="0">
              <a:spcBef>
                <a:spcPts val="444"/>
              </a:spcBef>
              <a:spcAft>
                <a:spcPts val="0"/>
              </a:spcAft>
              <a:buClr>
                <a:srgbClr val="7F7F7F"/>
              </a:buClr>
              <a:buSzPct val="100000"/>
              <a:buNone/>
            </a:pPr>
            <a:endParaRPr b="1"/>
          </a:p>
        </p:txBody>
      </p:sp>
      <p:pic>
        <p:nvPicPr>
          <p:cNvPr id="331" name="Google Shape;331;p49"/>
          <p:cNvPicPr preferRelativeResize="0"/>
          <p:nvPr/>
        </p:nvPicPr>
        <p:blipFill rotWithShape="1">
          <a:blip r:embed="rId3">
            <a:alphaModFix/>
          </a:blip>
          <a:srcRect/>
          <a:stretch/>
        </p:blipFill>
        <p:spPr>
          <a:xfrm>
            <a:off x="471489" y="116633"/>
            <a:ext cx="6836816" cy="310475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0"/>
          <p:cNvSpPr txBox="1">
            <a:spLocks noGrp="1"/>
          </p:cNvSpPr>
          <p:nvPr>
            <p:ph idx="1"/>
          </p:nvPr>
        </p:nvSpPr>
        <p:spPr>
          <a:xfrm>
            <a:off x="457200" y="404664"/>
            <a:ext cx="8229600" cy="6264696"/>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a:t>Despite these precautions, collisions can still occur.</a:t>
            </a:r>
            <a:endParaRPr/>
          </a:p>
          <a:p>
            <a:pPr marL="342900" lvl="0" indent="-190500" algn="just" rtl="0">
              <a:spcBef>
                <a:spcPts val="480"/>
              </a:spcBef>
              <a:spcAft>
                <a:spcPts val="0"/>
              </a:spcAft>
              <a:buClr>
                <a:srgbClr val="7F7F7F"/>
              </a:buClr>
              <a:buSzPts val="2400"/>
              <a:buNone/>
            </a:pPr>
            <a:endParaRPr/>
          </a:p>
          <a:p>
            <a:pPr marL="342900" lvl="0" indent="-342900" algn="just" rtl="0">
              <a:spcBef>
                <a:spcPts val="480"/>
              </a:spcBef>
              <a:spcAft>
                <a:spcPts val="0"/>
              </a:spcAft>
              <a:buClr>
                <a:srgbClr val="7F7F7F"/>
              </a:buClr>
              <a:buSzPts val="2400"/>
              <a:buChar char="•"/>
            </a:pPr>
            <a:r>
              <a:rPr lang="en-US"/>
              <a:t>If B and C could send </a:t>
            </a:r>
            <a:r>
              <a:rPr lang="en-US" b="1"/>
              <a:t>RTS</a:t>
            </a:r>
            <a:r>
              <a:rPr lang="en-US"/>
              <a:t> frames to A </a:t>
            </a:r>
            <a:r>
              <a:rPr lang="en-US" b="1"/>
              <a:t>at the same </a:t>
            </a:r>
            <a:r>
              <a:rPr lang="en-US"/>
              <a:t>time. These will collide and be lost.</a:t>
            </a:r>
            <a:endParaRPr/>
          </a:p>
          <a:p>
            <a:pPr marL="342900" lvl="0" indent="-190500" algn="just" rtl="0">
              <a:spcBef>
                <a:spcPts val="480"/>
              </a:spcBef>
              <a:spcAft>
                <a:spcPts val="0"/>
              </a:spcAft>
              <a:buClr>
                <a:srgbClr val="7F7F7F"/>
              </a:buClr>
              <a:buSzPts val="2400"/>
              <a:buNone/>
            </a:pPr>
            <a:endParaRPr/>
          </a:p>
          <a:p>
            <a:pPr marL="342900" lvl="0" indent="-342900" algn="just" rtl="0">
              <a:spcBef>
                <a:spcPts val="480"/>
              </a:spcBef>
              <a:spcAft>
                <a:spcPts val="0"/>
              </a:spcAft>
              <a:buClr>
                <a:srgbClr val="7F7F7F"/>
              </a:buClr>
              <a:buSzPts val="2400"/>
              <a:buChar char="•"/>
            </a:pPr>
            <a:r>
              <a:rPr lang="en-US"/>
              <a:t>In the event of a collision, an unsuccessful  transmitter (i.e one that does not hear </a:t>
            </a:r>
            <a:r>
              <a:rPr lang="en-US" b="1"/>
              <a:t>CTS</a:t>
            </a:r>
            <a:r>
              <a:rPr lang="en-US"/>
              <a:t> within the expected time interval) waits a random amount of time and tries again later.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1"/>
          <p:cNvSpPr txBox="1">
            <a:spLocks noGrp="1"/>
          </p:cNvSpPr>
          <p:nvPr>
            <p:ph type="title"/>
          </p:nvPr>
        </p:nvSpPr>
        <p:spPr>
          <a:xfrm>
            <a:off x="107504" y="188640"/>
            <a:ext cx="9036496" cy="720080"/>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802.11 architecture</a:t>
            </a:r>
            <a:endParaRPr/>
          </a:p>
        </p:txBody>
      </p:sp>
      <p:sp>
        <p:nvSpPr>
          <p:cNvPr id="342" name="Google Shape;342;p51"/>
          <p:cNvSpPr txBox="1">
            <a:spLocks noGrp="1"/>
          </p:cNvSpPr>
          <p:nvPr>
            <p:ph idx="1"/>
          </p:nvPr>
        </p:nvSpPr>
        <p:spPr>
          <a:xfrm>
            <a:off x="457200" y="908720"/>
            <a:ext cx="8229600" cy="576064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ct val="100000"/>
              <a:buChar char="•"/>
            </a:pPr>
            <a:r>
              <a:rPr lang="en-US" b="1"/>
              <a:t>Infrastructure and Ad-Hoc Modes</a:t>
            </a:r>
            <a:endParaRPr/>
          </a:p>
          <a:p>
            <a:pPr marL="342900" lvl="0" indent="-342900" algn="just" rtl="0">
              <a:spcBef>
                <a:spcPts val="444"/>
              </a:spcBef>
              <a:spcAft>
                <a:spcPts val="0"/>
              </a:spcAft>
              <a:buClr>
                <a:srgbClr val="7F7F7F"/>
              </a:buClr>
              <a:buSzPct val="100000"/>
              <a:buChar char="•"/>
            </a:pPr>
            <a:r>
              <a:rPr lang="en-US"/>
              <a:t>Most Wi-Fi networks function in infrastructure mode. Devices on the network all communicate through a single access point, which is generally the wireless router. For example, let’s say you have two laptops sitting next to each other, each connected to the same wireless network. Even when sitting right next to each other, they’re not communicating directly. Instead, they’re communicating indirectly through the wireless access point. They send packets to the access point — probably a wireless router — and it sends the packets back to the other laptop. Infrastructure mode requires a central access point that all devices connect to.</a:t>
            </a:r>
            <a:endParaRPr/>
          </a:p>
          <a:p>
            <a:pPr marL="342900" lvl="0" indent="-342900" algn="just" rtl="0">
              <a:spcBef>
                <a:spcPts val="444"/>
              </a:spcBef>
              <a:spcAft>
                <a:spcPts val="0"/>
              </a:spcAft>
              <a:buClr>
                <a:srgbClr val="7F7F7F"/>
              </a:buClr>
              <a:buSzPct val="100000"/>
              <a:buChar char="•"/>
            </a:pPr>
            <a:r>
              <a:rPr lang="en-US"/>
              <a:t>Ad-hoc mode is also known as “peer-to-peer” mode. Ad-hoc networks don’t require a centralized access point. Instead, devices on the wireless network connect directly to each other. If you set up the two laptops in ad-hoc wireless mode, they’d connect directly to each other without the need for a centralized access point.</a:t>
            </a:r>
            <a:endParaRPr/>
          </a:p>
          <a:p>
            <a:pPr marL="342900" lvl="0" indent="-201930" algn="just" rtl="0">
              <a:spcBef>
                <a:spcPts val="444"/>
              </a:spcBef>
              <a:spcAft>
                <a:spcPts val="0"/>
              </a:spcAft>
              <a:buClr>
                <a:srgbClr val="7F7F7F"/>
              </a:buClr>
              <a:buSzPct val="1000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52"/>
          <p:cNvPicPr preferRelativeResize="0">
            <a:picLocks noGrp="1"/>
          </p:cNvPicPr>
          <p:nvPr>
            <p:ph idx="1"/>
          </p:nvPr>
        </p:nvPicPr>
        <p:blipFill rotWithShape="1">
          <a:blip r:embed="rId3">
            <a:alphaModFix/>
          </a:blip>
          <a:srcRect/>
          <a:stretch/>
        </p:blipFill>
        <p:spPr>
          <a:xfrm>
            <a:off x="3223338" y="188640"/>
            <a:ext cx="5776993" cy="3384376"/>
          </a:xfrm>
          <a:prstGeom prst="rect">
            <a:avLst/>
          </a:prstGeom>
          <a:noFill/>
          <a:ln>
            <a:noFill/>
          </a:ln>
        </p:spPr>
      </p:pic>
      <p:sp>
        <p:nvSpPr>
          <p:cNvPr id="348" name="Google Shape;348;p52"/>
          <p:cNvSpPr/>
          <p:nvPr/>
        </p:nvSpPr>
        <p:spPr>
          <a:xfrm>
            <a:off x="-123653" y="404664"/>
            <a:ext cx="3903565" cy="838200"/>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802.11 architecture –  infrastructure mode</a:t>
            </a:r>
            <a:endParaRPr sz="2400">
              <a:solidFill>
                <a:schemeClr val="dk1"/>
              </a:solidFill>
              <a:latin typeface="Arial"/>
              <a:ea typeface="Arial"/>
              <a:cs typeface="Arial"/>
              <a:sym typeface="Arial"/>
            </a:endParaRPr>
          </a:p>
        </p:txBody>
      </p:sp>
      <p:sp>
        <p:nvSpPr>
          <p:cNvPr id="349" name="Google Shape;349;p52"/>
          <p:cNvSpPr/>
          <p:nvPr/>
        </p:nvSpPr>
        <p:spPr>
          <a:xfrm>
            <a:off x="4499993" y="5013176"/>
            <a:ext cx="4500338" cy="1097112"/>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802.11 architecture –  ad-hoc mode</a:t>
            </a:r>
            <a:endParaRPr/>
          </a:p>
        </p:txBody>
      </p:sp>
      <p:pic>
        <p:nvPicPr>
          <p:cNvPr id="350" name="Google Shape;350;p52"/>
          <p:cNvPicPr preferRelativeResize="0"/>
          <p:nvPr/>
        </p:nvPicPr>
        <p:blipFill rotWithShape="1">
          <a:blip r:embed="rId4">
            <a:alphaModFix/>
          </a:blip>
          <a:srcRect/>
          <a:stretch/>
        </p:blipFill>
        <p:spPr>
          <a:xfrm>
            <a:off x="251520" y="3140968"/>
            <a:ext cx="3783536" cy="347231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3"/>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356" name="Google Shape;356;p53"/>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357" name="Google Shape;357;p53"/>
          <p:cNvSpPr/>
          <p:nvPr/>
        </p:nvSpPr>
        <p:spPr>
          <a:xfrm>
            <a:off x="203994" y="5369719"/>
            <a:ext cx="8856662" cy="685800"/>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Part of the 802.11 protocol stack.</a:t>
            </a:r>
            <a:endParaRPr/>
          </a:p>
        </p:txBody>
      </p:sp>
      <p:pic>
        <p:nvPicPr>
          <p:cNvPr id="358" name="Google Shape;358;p53"/>
          <p:cNvPicPr preferRelativeResize="0"/>
          <p:nvPr/>
        </p:nvPicPr>
        <p:blipFill rotWithShape="1">
          <a:blip r:embed="rId3">
            <a:alphaModFix/>
          </a:blip>
          <a:srcRect/>
          <a:stretch/>
        </p:blipFill>
        <p:spPr>
          <a:xfrm>
            <a:off x="83344" y="802482"/>
            <a:ext cx="8810625" cy="4257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4"/>
          <p:cNvSpPr txBox="1">
            <a:spLocks noGrp="1"/>
          </p:cNvSpPr>
          <p:nvPr>
            <p:ph type="title"/>
          </p:nvPr>
        </p:nvSpPr>
        <p:spPr>
          <a:xfrm>
            <a:off x="467544" y="188640"/>
            <a:ext cx="8229600" cy="692696"/>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sp>
        <p:nvSpPr>
          <p:cNvPr id="364" name="Google Shape;364;p54"/>
          <p:cNvSpPr txBox="1">
            <a:spLocks noGrp="1"/>
          </p:cNvSpPr>
          <p:nvPr>
            <p:ph idx="1"/>
          </p:nvPr>
        </p:nvSpPr>
        <p:spPr>
          <a:xfrm>
            <a:off x="457200" y="1052736"/>
            <a:ext cx="8229600" cy="561662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p:txBody>
      </p:sp>
      <p:sp>
        <p:nvSpPr>
          <p:cNvPr id="365" name="Google Shape;365;p54"/>
          <p:cNvSpPr/>
          <p:nvPr/>
        </p:nvSpPr>
        <p:spPr>
          <a:xfrm>
            <a:off x="143669" y="4843463"/>
            <a:ext cx="8856662" cy="838200"/>
          </a:xfrm>
          <a:prstGeom prst="rect">
            <a:avLst/>
          </a:prstGeom>
          <a:noFill/>
          <a:ln>
            <a:noFill/>
          </a:ln>
        </p:spPr>
        <p:txBody>
          <a:bodyPr spcFirstLastPara="1" wrap="square" lIns="91425" tIns="45700" rIns="91425" bIns="45700" anchor="t" anchorCtr="0">
            <a:noAutofit/>
          </a:bodyPr>
          <a:lstStyle/>
          <a:p>
            <a:pPr marL="609600" marR="0" lvl="0" indent="-609600" algn="ctr" rtl="0">
              <a:spcBef>
                <a:spcPts val="0"/>
              </a:spcBef>
              <a:spcAft>
                <a:spcPts val="0"/>
              </a:spcAft>
              <a:buClr>
                <a:schemeClr val="accent2"/>
              </a:buClr>
              <a:buSzPts val="2400"/>
              <a:buFont typeface="Arial"/>
              <a:buNone/>
            </a:pPr>
            <a:r>
              <a:rPr lang="en-US" sz="2400">
                <a:solidFill>
                  <a:schemeClr val="dk1"/>
                </a:solidFill>
                <a:latin typeface="Arial"/>
                <a:ea typeface="Arial"/>
                <a:cs typeface="Arial"/>
                <a:sym typeface="Arial"/>
              </a:rPr>
              <a:t>Format of the 802.11 data frame</a:t>
            </a:r>
            <a:endParaRPr/>
          </a:p>
        </p:txBody>
      </p:sp>
      <p:pic>
        <p:nvPicPr>
          <p:cNvPr id="366" name="Google Shape;366;p54"/>
          <p:cNvPicPr preferRelativeResize="0"/>
          <p:nvPr/>
        </p:nvPicPr>
        <p:blipFill rotWithShape="1">
          <a:blip r:embed="rId3">
            <a:alphaModFix/>
          </a:blip>
          <a:srcRect/>
          <a:stretch/>
        </p:blipFill>
        <p:spPr>
          <a:xfrm>
            <a:off x="365919" y="1176338"/>
            <a:ext cx="8124825" cy="27622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5"/>
          <p:cNvSpPr txBox="1">
            <a:spLocks noGrp="1"/>
          </p:cNvSpPr>
          <p:nvPr>
            <p:ph idx="1"/>
          </p:nvPr>
        </p:nvSpPr>
        <p:spPr>
          <a:xfrm>
            <a:off x="457200" y="260648"/>
            <a:ext cx="8229600" cy="640871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a:t>802.11 defines 3 classes of frames : data, control and management.</a:t>
            </a:r>
            <a:endParaRPr/>
          </a:p>
          <a:p>
            <a:pPr marL="342900" lvl="0" indent="-342900" algn="l" rtl="0">
              <a:spcBef>
                <a:spcPts val="480"/>
              </a:spcBef>
              <a:spcAft>
                <a:spcPts val="0"/>
              </a:spcAft>
              <a:buClr>
                <a:srgbClr val="7F7F7F"/>
              </a:buClr>
              <a:buSzPts val="2400"/>
              <a:buChar char="•"/>
            </a:pPr>
            <a:r>
              <a:rPr lang="en-US"/>
              <a:t>Data frame:</a:t>
            </a:r>
            <a:endParaRPr/>
          </a:p>
          <a:p>
            <a:pPr marL="342900" lvl="0" indent="-342900" algn="l" rtl="0">
              <a:spcBef>
                <a:spcPts val="480"/>
              </a:spcBef>
              <a:spcAft>
                <a:spcPts val="0"/>
              </a:spcAft>
              <a:buClr>
                <a:srgbClr val="7F7F7F"/>
              </a:buClr>
              <a:buSzPts val="2400"/>
              <a:buChar char="•"/>
            </a:pPr>
            <a:r>
              <a:rPr lang="en-US" b="1"/>
              <a:t>Frame control: </a:t>
            </a:r>
            <a:r>
              <a:rPr lang="en-US"/>
              <a:t>11 subfields.</a:t>
            </a:r>
            <a:endParaRPr/>
          </a:p>
          <a:p>
            <a:pPr marL="742950" lvl="1" indent="-285750" algn="just" rtl="0">
              <a:spcBef>
                <a:spcPts val="360"/>
              </a:spcBef>
              <a:spcAft>
                <a:spcPts val="0"/>
              </a:spcAft>
              <a:buClr>
                <a:srgbClr val="7F7F7F"/>
              </a:buClr>
              <a:buSzPts val="1800"/>
              <a:buChar char="o"/>
            </a:pPr>
            <a:r>
              <a:rPr lang="en-US" sz="1800" b="1"/>
              <a:t>Protocol ver: </a:t>
            </a:r>
            <a:r>
              <a:rPr lang="en-US" sz="1800"/>
              <a:t>00</a:t>
            </a:r>
            <a:endParaRPr/>
          </a:p>
          <a:p>
            <a:pPr marL="742950" lvl="1" indent="-285750" algn="just" rtl="0">
              <a:spcBef>
                <a:spcPts val="360"/>
              </a:spcBef>
              <a:spcAft>
                <a:spcPts val="0"/>
              </a:spcAft>
              <a:buClr>
                <a:srgbClr val="7F7F7F"/>
              </a:buClr>
              <a:buSzPts val="1800"/>
              <a:buChar char="o"/>
            </a:pPr>
            <a:r>
              <a:rPr lang="en-US" sz="1800" b="1"/>
              <a:t>Type</a:t>
            </a:r>
            <a:r>
              <a:rPr lang="en-US" sz="1800"/>
              <a:t>: Data, control or management</a:t>
            </a:r>
            <a:endParaRPr/>
          </a:p>
          <a:p>
            <a:pPr marL="742950" lvl="1" indent="-285750" algn="just" rtl="0">
              <a:spcBef>
                <a:spcPts val="360"/>
              </a:spcBef>
              <a:spcAft>
                <a:spcPts val="0"/>
              </a:spcAft>
              <a:buClr>
                <a:srgbClr val="7F7F7F"/>
              </a:buClr>
              <a:buSzPts val="1800"/>
              <a:buChar char="o"/>
            </a:pPr>
            <a:r>
              <a:rPr lang="en-US" sz="1800" b="1"/>
              <a:t>Subtype: </a:t>
            </a:r>
            <a:r>
              <a:rPr lang="en-US" sz="1800"/>
              <a:t>RTS or CTS</a:t>
            </a:r>
            <a:endParaRPr/>
          </a:p>
          <a:p>
            <a:pPr marL="742950" lvl="1" indent="-285750" algn="just" rtl="0">
              <a:spcBef>
                <a:spcPts val="360"/>
              </a:spcBef>
              <a:spcAft>
                <a:spcPts val="0"/>
              </a:spcAft>
              <a:buClr>
                <a:srgbClr val="7F7F7F"/>
              </a:buClr>
              <a:buSzPts val="1800"/>
              <a:buChar char="o"/>
            </a:pPr>
            <a:r>
              <a:rPr lang="en-US" sz="1800" b="1"/>
              <a:t>To/from DS: </a:t>
            </a:r>
            <a:r>
              <a:rPr lang="en-US" sz="1800"/>
              <a:t>frame is going to or coming from the network connected to APS.</a:t>
            </a:r>
            <a:endParaRPr/>
          </a:p>
          <a:p>
            <a:pPr marL="742950" lvl="1" indent="-285750" algn="just" rtl="0">
              <a:spcBef>
                <a:spcPts val="360"/>
              </a:spcBef>
              <a:spcAft>
                <a:spcPts val="0"/>
              </a:spcAft>
              <a:buClr>
                <a:srgbClr val="7F7F7F"/>
              </a:buClr>
              <a:buSzPts val="1800"/>
              <a:buChar char="o"/>
            </a:pPr>
            <a:r>
              <a:rPr lang="en-US" sz="1800" b="1"/>
              <a:t>More frag: </a:t>
            </a:r>
            <a:r>
              <a:rPr lang="en-US" sz="1800"/>
              <a:t>more fragments will follow.</a:t>
            </a:r>
            <a:endParaRPr/>
          </a:p>
          <a:p>
            <a:pPr marL="742950" lvl="1" indent="-285750" algn="just" rtl="0">
              <a:spcBef>
                <a:spcPts val="360"/>
              </a:spcBef>
              <a:spcAft>
                <a:spcPts val="0"/>
              </a:spcAft>
              <a:buClr>
                <a:srgbClr val="7F7F7F"/>
              </a:buClr>
              <a:buSzPts val="1800"/>
              <a:buChar char="o"/>
            </a:pPr>
            <a:r>
              <a:rPr lang="en-US" sz="1800" b="1"/>
              <a:t>Retry: </a:t>
            </a:r>
            <a:r>
              <a:rPr lang="en-US" sz="1800"/>
              <a:t>retransmission of a frame sent earlier.</a:t>
            </a:r>
            <a:endParaRPr/>
          </a:p>
          <a:p>
            <a:pPr marL="742950" lvl="1" indent="-285750" algn="just" rtl="0">
              <a:spcBef>
                <a:spcPts val="360"/>
              </a:spcBef>
              <a:spcAft>
                <a:spcPts val="0"/>
              </a:spcAft>
              <a:buClr>
                <a:srgbClr val="7F7F7F"/>
              </a:buClr>
              <a:buSzPts val="1800"/>
              <a:buChar char="o"/>
            </a:pPr>
            <a:r>
              <a:rPr lang="en-US" sz="1800" b="1"/>
              <a:t>Pwr mgt: </a:t>
            </a:r>
            <a:r>
              <a:rPr lang="en-US" sz="1800"/>
              <a:t>Sender is going into power saving mode.</a:t>
            </a:r>
            <a:endParaRPr/>
          </a:p>
          <a:p>
            <a:pPr marL="742950" lvl="1" indent="-285750" algn="just" rtl="0">
              <a:spcBef>
                <a:spcPts val="360"/>
              </a:spcBef>
              <a:spcAft>
                <a:spcPts val="0"/>
              </a:spcAft>
              <a:buClr>
                <a:srgbClr val="7F7F7F"/>
              </a:buClr>
              <a:buSzPts val="1800"/>
              <a:buChar char="o"/>
            </a:pPr>
            <a:r>
              <a:rPr lang="en-US" sz="1800" b="1"/>
              <a:t>More data: </a:t>
            </a:r>
            <a:r>
              <a:rPr lang="en-US" sz="1800"/>
              <a:t>Sender has additional frames for the receiver.</a:t>
            </a:r>
            <a:endParaRPr/>
          </a:p>
          <a:p>
            <a:pPr marL="742950" lvl="1" indent="-285750" algn="just" rtl="0">
              <a:spcBef>
                <a:spcPts val="360"/>
              </a:spcBef>
              <a:spcAft>
                <a:spcPts val="0"/>
              </a:spcAft>
              <a:buClr>
                <a:srgbClr val="7F7F7F"/>
              </a:buClr>
              <a:buSzPts val="1800"/>
              <a:buChar char="o"/>
            </a:pPr>
            <a:r>
              <a:rPr lang="en-US" sz="1800" b="1"/>
              <a:t>Protected: </a:t>
            </a:r>
            <a:r>
              <a:rPr lang="en-US" sz="1800"/>
              <a:t>frame body is encrypted for security.</a:t>
            </a:r>
            <a:endParaRPr/>
          </a:p>
          <a:p>
            <a:pPr marL="742950" lvl="1" indent="-285750" algn="just" rtl="0">
              <a:spcBef>
                <a:spcPts val="360"/>
              </a:spcBef>
              <a:spcAft>
                <a:spcPts val="0"/>
              </a:spcAft>
              <a:buClr>
                <a:srgbClr val="7F7F7F"/>
              </a:buClr>
              <a:buSzPts val="1800"/>
              <a:buChar char="o"/>
            </a:pPr>
            <a:r>
              <a:rPr lang="en-US" sz="1800" b="1"/>
              <a:t>Order: </a:t>
            </a:r>
            <a:r>
              <a:rPr lang="en-US" sz="1800"/>
              <a:t>Tells the receiver that the higher layer expects the seq of frames to arrive strictly  in order.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6"/>
          <p:cNvSpPr txBox="1">
            <a:spLocks noGrp="1"/>
          </p:cNvSpPr>
          <p:nvPr>
            <p:ph idx="1"/>
          </p:nvPr>
        </p:nvSpPr>
        <p:spPr>
          <a:xfrm>
            <a:off x="457200" y="476672"/>
            <a:ext cx="8229600" cy="564949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ct val="100000"/>
              <a:buChar char="•"/>
            </a:pPr>
            <a:r>
              <a:rPr lang="en-US" b="1"/>
              <a:t>Duration: </a:t>
            </a:r>
            <a:r>
              <a:rPr lang="en-US"/>
              <a:t>Tells how long the frame and its ack will occupy the ch.[in microsecs]</a:t>
            </a:r>
            <a:endParaRPr/>
          </a:p>
          <a:p>
            <a:pPr marL="342900" lvl="0" indent="-342900" algn="l" rtl="0">
              <a:spcBef>
                <a:spcPts val="444"/>
              </a:spcBef>
              <a:spcAft>
                <a:spcPts val="0"/>
              </a:spcAft>
              <a:buClr>
                <a:srgbClr val="7F7F7F"/>
              </a:buClr>
              <a:buSzPct val="100000"/>
              <a:buChar char="•"/>
            </a:pPr>
            <a:r>
              <a:rPr lang="en-US" b="1"/>
              <a:t>Address: </a:t>
            </a:r>
            <a:r>
              <a:rPr lang="en-US"/>
              <a:t>3 address</a:t>
            </a:r>
            <a:endParaRPr/>
          </a:p>
          <a:p>
            <a:pPr marL="742950" lvl="1" indent="-285750" algn="l" rtl="0">
              <a:spcBef>
                <a:spcPts val="296"/>
              </a:spcBef>
              <a:spcAft>
                <a:spcPts val="0"/>
              </a:spcAft>
              <a:buClr>
                <a:srgbClr val="7F7F7F"/>
              </a:buClr>
              <a:buSzPct val="100000"/>
              <a:buChar char="o"/>
            </a:pPr>
            <a:r>
              <a:rPr lang="en-US"/>
              <a:t>Receiver</a:t>
            </a:r>
            <a:endParaRPr/>
          </a:p>
          <a:p>
            <a:pPr marL="742950" lvl="1" indent="-285750" algn="l" rtl="0">
              <a:spcBef>
                <a:spcPts val="296"/>
              </a:spcBef>
              <a:spcAft>
                <a:spcPts val="0"/>
              </a:spcAft>
              <a:buClr>
                <a:srgbClr val="7F7F7F"/>
              </a:buClr>
              <a:buSzPct val="100000"/>
              <a:buChar char="o"/>
            </a:pPr>
            <a:r>
              <a:rPr lang="en-US"/>
              <a:t>Transmitter</a:t>
            </a:r>
            <a:endParaRPr/>
          </a:p>
          <a:p>
            <a:pPr marL="742950" lvl="1" indent="-285750" algn="l" rtl="0">
              <a:spcBef>
                <a:spcPts val="296"/>
              </a:spcBef>
              <a:spcAft>
                <a:spcPts val="0"/>
              </a:spcAft>
              <a:buClr>
                <a:srgbClr val="7F7F7F"/>
              </a:buClr>
              <a:buSzPct val="100000"/>
              <a:buChar char="o"/>
            </a:pPr>
            <a:r>
              <a:rPr lang="en-US"/>
              <a:t>AP</a:t>
            </a:r>
            <a:endParaRPr/>
          </a:p>
          <a:p>
            <a:pPr marL="342900" lvl="0" indent="-342900" algn="l" rtl="0">
              <a:spcBef>
                <a:spcPts val="444"/>
              </a:spcBef>
              <a:spcAft>
                <a:spcPts val="0"/>
              </a:spcAft>
              <a:buClr>
                <a:srgbClr val="7F7F7F"/>
              </a:buClr>
              <a:buSzPct val="100000"/>
              <a:buChar char="•"/>
            </a:pPr>
            <a:r>
              <a:rPr lang="en-US" b="1"/>
              <a:t>Seq: </a:t>
            </a:r>
            <a:r>
              <a:rPr lang="en-US"/>
              <a:t>dup can be detected</a:t>
            </a:r>
            <a:endParaRPr/>
          </a:p>
          <a:p>
            <a:pPr marL="342900" lvl="0" indent="-342900" algn="l" rtl="0">
              <a:spcBef>
                <a:spcPts val="444"/>
              </a:spcBef>
              <a:spcAft>
                <a:spcPts val="0"/>
              </a:spcAft>
              <a:buClr>
                <a:srgbClr val="7F7F7F"/>
              </a:buClr>
              <a:buSzPct val="100000"/>
              <a:buChar char="•"/>
            </a:pPr>
            <a:r>
              <a:rPr lang="en-US" b="1"/>
              <a:t>Data: </a:t>
            </a:r>
            <a:r>
              <a:rPr lang="en-US"/>
              <a:t>payload of 2312B</a:t>
            </a:r>
            <a:endParaRPr/>
          </a:p>
          <a:p>
            <a:pPr marL="342900" lvl="0" indent="-342900" algn="l" rtl="0">
              <a:spcBef>
                <a:spcPts val="444"/>
              </a:spcBef>
              <a:spcAft>
                <a:spcPts val="0"/>
              </a:spcAft>
              <a:buClr>
                <a:srgbClr val="7F7F7F"/>
              </a:buClr>
              <a:buSzPct val="100000"/>
              <a:buChar char="•"/>
            </a:pPr>
            <a:r>
              <a:rPr lang="en-US" b="1"/>
              <a:t>FCS: </a:t>
            </a:r>
            <a:r>
              <a:rPr lang="en-US"/>
              <a:t>4B CRC</a:t>
            </a:r>
            <a:endParaRPr/>
          </a:p>
          <a:p>
            <a:pPr marL="342900" lvl="0" indent="-342900" algn="l" rtl="0">
              <a:spcBef>
                <a:spcPts val="444"/>
              </a:spcBef>
              <a:spcAft>
                <a:spcPts val="0"/>
              </a:spcAft>
              <a:buClr>
                <a:srgbClr val="7F7F7F"/>
              </a:buClr>
              <a:buSzPct val="100000"/>
              <a:buChar char="•"/>
            </a:pPr>
            <a:r>
              <a:rPr lang="en-US" b="1"/>
              <a:t>Management frames </a:t>
            </a:r>
            <a:r>
              <a:rPr lang="en-US"/>
              <a:t>have same format as data frames, plus a format for data portion that varies with subtype.</a:t>
            </a:r>
            <a:endParaRPr/>
          </a:p>
          <a:p>
            <a:pPr marL="342900" lvl="0" indent="-342900" algn="l" rtl="0">
              <a:spcBef>
                <a:spcPts val="444"/>
              </a:spcBef>
              <a:spcAft>
                <a:spcPts val="0"/>
              </a:spcAft>
              <a:buClr>
                <a:srgbClr val="7F7F7F"/>
              </a:buClr>
              <a:buSzPct val="100000"/>
              <a:buChar char="•"/>
            </a:pPr>
            <a:r>
              <a:rPr lang="en-US" b="1"/>
              <a:t>Control frames </a:t>
            </a:r>
            <a:r>
              <a:rPr lang="en-US"/>
              <a:t>are short.</a:t>
            </a:r>
            <a:endParaRPr/>
          </a:p>
          <a:p>
            <a:pPr marL="342900" lvl="0" indent="-342900" algn="l" rtl="0">
              <a:spcBef>
                <a:spcPts val="444"/>
              </a:spcBef>
              <a:spcAft>
                <a:spcPts val="0"/>
              </a:spcAft>
              <a:buClr>
                <a:srgbClr val="7F7F7F"/>
              </a:buClr>
              <a:buSzPct val="100000"/>
              <a:buChar char="•"/>
            </a:pPr>
            <a:r>
              <a:rPr lang="en-US"/>
              <a:t>Frame control, Duration, FCS and one address and no data portion. Most of the key info is conveyed with subtype (ACK, RTS, CTS)</a:t>
            </a:r>
            <a:endParaRPr/>
          </a:p>
          <a:p>
            <a:pPr marL="342900" lvl="0" indent="-201930" algn="l" rtl="0">
              <a:spcBef>
                <a:spcPts val="444"/>
              </a:spcBef>
              <a:spcAft>
                <a:spcPts val="0"/>
              </a:spcAft>
              <a:buClr>
                <a:srgbClr val="7F7F7F"/>
              </a:buClr>
              <a:buSzPct val="100000"/>
              <a:buNone/>
            </a:pPr>
            <a:endParaRPr/>
          </a:p>
          <a:p>
            <a:pPr marL="342900" lvl="0" indent="-201930" algn="l" rtl="0">
              <a:spcBef>
                <a:spcPts val="444"/>
              </a:spcBef>
              <a:spcAft>
                <a:spcPts val="0"/>
              </a:spcAft>
              <a:buClr>
                <a:srgbClr val="7F7F7F"/>
              </a:buClr>
              <a:buSzPct val="1000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7"/>
          <p:cNvSpPr txBox="1">
            <a:spLocks noGrp="1"/>
          </p:cNvSpPr>
          <p:nvPr>
            <p:ph type="title"/>
          </p:nvPr>
        </p:nvSpPr>
        <p:spPr>
          <a:xfrm>
            <a:off x="457200" y="0"/>
            <a:ext cx="8229600" cy="1556792"/>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Wavelength Division Multiple Access</a:t>
            </a:r>
            <a:endParaRPr/>
          </a:p>
        </p:txBody>
      </p:sp>
      <p:sp>
        <p:nvSpPr>
          <p:cNvPr id="382" name="Google Shape;382;p5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a:t>Using FDM, TDM or both channel allocation is achieved. </a:t>
            </a:r>
            <a:endParaRPr/>
          </a:p>
          <a:p>
            <a:pPr marL="342900" lvl="0" indent="-342900" algn="just" rtl="0">
              <a:spcBef>
                <a:spcPts val="480"/>
              </a:spcBef>
              <a:spcAft>
                <a:spcPts val="0"/>
              </a:spcAft>
              <a:buClr>
                <a:srgbClr val="7F7F7F"/>
              </a:buClr>
              <a:buSzPts val="2400"/>
              <a:buChar char="•"/>
            </a:pPr>
            <a:r>
              <a:rPr lang="en-US"/>
              <a:t>Similar approach is used in fiber optics where conversations take place on different wavelength at same time.</a:t>
            </a:r>
            <a:endParaRPr/>
          </a:p>
          <a:p>
            <a:pPr marL="342900" lvl="0" indent="-342900" algn="just" rtl="0">
              <a:spcBef>
                <a:spcPts val="480"/>
              </a:spcBef>
              <a:spcAft>
                <a:spcPts val="0"/>
              </a:spcAft>
              <a:buClr>
                <a:srgbClr val="7F7F7F"/>
              </a:buClr>
              <a:buSzPts val="2400"/>
              <a:buChar char="•"/>
            </a:pPr>
            <a:r>
              <a:rPr lang="en-US"/>
              <a:t>To allow multiple transmission at same time, the spectrum is divided into channels(wavelength bands).</a:t>
            </a:r>
            <a:endParaRPr/>
          </a:p>
          <a:p>
            <a:pPr marL="342900" lvl="0" indent="-342900" algn="just" rtl="0">
              <a:spcBef>
                <a:spcPts val="480"/>
              </a:spcBef>
              <a:spcAft>
                <a:spcPts val="0"/>
              </a:spcAft>
              <a:buClr>
                <a:srgbClr val="7F7F7F"/>
              </a:buClr>
              <a:buSzPts val="2400"/>
              <a:buChar char="•"/>
            </a:pPr>
            <a:r>
              <a:rPr lang="en-US"/>
              <a:t>In WDMA, each station is assigned </a:t>
            </a:r>
            <a:r>
              <a:rPr lang="en-US" b="1"/>
              <a:t>two chs</a:t>
            </a:r>
            <a:r>
              <a:rPr lang="en-US"/>
              <a:t>; a narrow band ch is provided as a </a:t>
            </a:r>
            <a:r>
              <a:rPr lang="en-US" b="1"/>
              <a:t>control</a:t>
            </a:r>
            <a:r>
              <a:rPr lang="en-US"/>
              <a:t> ch to signal the station, and a wide ch is provided so that station can output </a:t>
            </a:r>
            <a:r>
              <a:rPr lang="en-US" b="1"/>
              <a:t>data frames.</a:t>
            </a:r>
            <a:endParaRPr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8"/>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endParaRPr/>
          </a:p>
        </p:txBody>
      </p:sp>
      <p:pic>
        <p:nvPicPr>
          <p:cNvPr id="388" name="Google Shape;388;p58"/>
          <p:cNvPicPr preferRelativeResize="0">
            <a:picLocks noGrp="1"/>
          </p:cNvPicPr>
          <p:nvPr>
            <p:ph idx="1"/>
          </p:nvPr>
        </p:nvPicPr>
        <p:blipFill rotWithShape="1">
          <a:blip r:embed="rId3">
            <a:alphaModFix/>
          </a:blip>
          <a:stretch/>
        </p:blipFill>
        <p:spPr>
          <a:xfrm>
            <a:off x="1321594" y="2648744"/>
            <a:ext cx="4924425" cy="2905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9"/>
          <p:cNvSpPr txBox="1">
            <a:spLocks noGrp="1"/>
          </p:cNvSpPr>
          <p:nvPr>
            <p:ph idx="1"/>
          </p:nvPr>
        </p:nvSpPr>
        <p:spPr>
          <a:xfrm>
            <a:off x="457200" y="188640"/>
            <a:ext cx="8229600" cy="593752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a:t>Each ch is divided into grps of time slots. m slots for control and n+1 for data; [+1 is for status(which ch on both slots are free)]. All chs are synchronized by single global clock.</a:t>
            </a:r>
            <a:endParaRPr/>
          </a:p>
          <a:p>
            <a:pPr marL="342900" lvl="0" indent="-342900" algn="l" rtl="0">
              <a:spcBef>
                <a:spcPts val="480"/>
              </a:spcBef>
              <a:spcAft>
                <a:spcPts val="0"/>
              </a:spcAft>
              <a:buClr>
                <a:srgbClr val="7F7F7F"/>
              </a:buClr>
              <a:buSzPts val="2400"/>
              <a:buChar char="•"/>
            </a:pPr>
            <a:r>
              <a:rPr lang="en-US"/>
              <a:t>The protocol supports three traffic classes:</a:t>
            </a:r>
            <a:endParaRPr/>
          </a:p>
          <a:p>
            <a:pPr marL="742950" lvl="1" indent="-285750" algn="l" rtl="0">
              <a:spcBef>
                <a:spcPts val="320"/>
              </a:spcBef>
              <a:spcAft>
                <a:spcPts val="0"/>
              </a:spcAft>
              <a:buClr>
                <a:srgbClr val="7F7F7F"/>
              </a:buClr>
              <a:buSzPts val="1600"/>
              <a:buChar char="o"/>
            </a:pPr>
            <a:r>
              <a:rPr lang="en-US"/>
              <a:t>Constant data rate connection oriented, such as uncompressed video.</a:t>
            </a:r>
            <a:endParaRPr/>
          </a:p>
          <a:p>
            <a:pPr marL="742950" lvl="1" indent="-285750" algn="l" rtl="0">
              <a:spcBef>
                <a:spcPts val="320"/>
              </a:spcBef>
              <a:spcAft>
                <a:spcPts val="0"/>
              </a:spcAft>
              <a:buClr>
                <a:srgbClr val="7F7F7F"/>
              </a:buClr>
              <a:buSzPts val="1600"/>
              <a:buChar char="o"/>
            </a:pPr>
            <a:r>
              <a:rPr lang="en-US"/>
              <a:t>Variable data rate connection oriented, such as file transfer.</a:t>
            </a:r>
            <a:endParaRPr/>
          </a:p>
          <a:p>
            <a:pPr marL="742950" lvl="1" indent="-285750" algn="l" rtl="0">
              <a:spcBef>
                <a:spcPts val="320"/>
              </a:spcBef>
              <a:spcAft>
                <a:spcPts val="0"/>
              </a:spcAft>
              <a:buClr>
                <a:srgbClr val="7F7F7F"/>
              </a:buClr>
              <a:buSzPts val="1600"/>
              <a:buChar char="o"/>
            </a:pPr>
            <a:r>
              <a:rPr lang="en-US"/>
              <a:t>Datagram traffic, such as UDP packets.</a:t>
            </a:r>
            <a:endParaRPr/>
          </a:p>
          <a:p>
            <a:pPr marL="342900" lvl="0" indent="-342900" algn="l" rtl="0">
              <a:spcBef>
                <a:spcPts val="480"/>
              </a:spcBef>
              <a:spcAft>
                <a:spcPts val="0"/>
              </a:spcAft>
              <a:buClr>
                <a:srgbClr val="7F7F7F"/>
              </a:buClr>
              <a:buSzPts val="2400"/>
              <a:buChar char="•"/>
            </a:pPr>
            <a:r>
              <a:rPr lang="en-US"/>
              <a:t>For connection oriented, say A wants to communicate to B. Then A must first insert a CONNECTION_REQUEST frame in free slot on B’s control ch. If B accepts, commn takes place on A’s data ch.</a:t>
            </a:r>
            <a:endParaRPr/>
          </a:p>
          <a:p>
            <a:pPr marL="342900" lvl="0" indent="-342900" algn="l" rtl="0">
              <a:spcBef>
                <a:spcPts val="480"/>
              </a:spcBef>
              <a:spcAft>
                <a:spcPts val="0"/>
              </a:spcAft>
              <a:buClr>
                <a:srgbClr val="7F7F7F"/>
              </a:buClr>
              <a:buSzPts val="2400"/>
              <a:buChar char="•"/>
            </a:pPr>
            <a:r>
              <a:rPr lang="en-US"/>
              <a:t>Each station has two transmitter and two receivers.</a:t>
            </a: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0"/>
          <p:cNvSpPr txBox="1">
            <a:spLocks noGrp="1"/>
          </p:cNvSpPr>
          <p:nvPr>
            <p:ph idx="1"/>
          </p:nvPr>
        </p:nvSpPr>
        <p:spPr>
          <a:xfrm>
            <a:off x="457200" y="188640"/>
            <a:ext cx="8229600" cy="612068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rgbClr val="7F7F7F"/>
              </a:buClr>
              <a:buSzPts val="2400"/>
              <a:buChar char="•"/>
            </a:pPr>
            <a:r>
              <a:rPr lang="en-US" b="1"/>
              <a:t>Example</a:t>
            </a:r>
            <a:endParaRPr/>
          </a:p>
          <a:p>
            <a:pPr marL="342900" lvl="0" indent="-342900" algn="just" rtl="0">
              <a:spcBef>
                <a:spcPts val="480"/>
              </a:spcBef>
              <a:spcAft>
                <a:spcPts val="0"/>
              </a:spcAft>
              <a:buClr>
                <a:srgbClr val="7F7F7F"/>
              </a:buClr>
              <a:buSzPts val="2400"/>
              <a:buChar char="•"/>
            </a:pPr>
            <a:r>
              <a:rPr lang="en-US"/>
              <a:t>A picks one of the free control slots, say 4, and insert CR msg there.</a:t>
            </a:r>
            <a:endParaRPr/>
          </a:p>
          <a:p>
            <a:pPr marL="342900" lvl="0" indent="-342900" algn="just" rtl="0">
              <a:spcBef>
                <a:spcPts val="480"/>
              </a:spcBef>
              <a:spcAft>
                <a:spcPts val="0"/>
              </a:spcAft>
              <a:buClr>
                <a:srgbClr val="7F7F7F"/>
              </a:buClr>
              <a:buSzPts val="2400"/>
              <a:buChar char="•"/>
            </a:pPr>
            <a:r>
              <a:rPr lang="en-US"/>
              <a:t>Since B constantly monitors its control ch, it sees the request and grants slot 4 to A.</a:t>
            </a:r>
            <a:endParaRPr/>
          </a:p>
          <a:p>
            <a:pPr marL="342900" lvl="0" indent="-342900" algn="just" rtl="0">
              <a:spcBef>
                <a:spcPts val="480"/>
              </a:spcBef>
              <a:spcAft>
                <a:spcPts val="0"/>
              </a:spcAft>
              <a:buClr>
                <a:srgbClr val="7F7F7F"/>
              </a:buClr>
              <a:buSzPts val="2400"/>
              <a:buChar char="•"/>
            </a:pPr>
            <a:r>
              <a:rPr lang="en-US"/>
              <a:t>This assignment is announced in the status slot of B’s data ch.</a:t>
            </a:r>
            <a:endParaRPr/>
          </a:p>
          <a:p>
            <a:pPr marL="342900" lvl="0" indent="-342900" algn="just" rtl="0">
              <a:spcBef>
                <a:spcPts val="480"/>
              </a:spcBef>
              <a:spcAft>
                <a:spcPts val="0"/>
              </a:spcAft>
              <a:buClr>
                <a:srgbClr val="7F7F7F"/>
              </a:buClr>
              <a:buSzPts val="2400"/>
              <a:buChar char="•"/>
            </a:pPr>
            <a:r>
              <a:rPr lang="en-US"/>
              <a:t>When A sees the announcement, it knows it has unidirectional connection. </a:t>
            </a:r>
            <a:endParaRPr/>
          </a:p>
          <a:p>
            <a:pPr marL="342900" lvl="0" indent="-342900" algn="just" rtl="0">
              <a:spcBef>
                <a:spcPts val="480"/>
              </a:spcBef>
              <a:spcAft>
                <a:spcPts val="0"/>
              </a:spcAft>
              <a:buClr>
                <a:srgbClr val="7F7F7F"/>
              </a:buClr>
              <a:buSzPts val="2400"/>
              <a:buChar char="•"/>
            </a:pPr>
            <a:r>
              <a:rPr lang="en-US"/>
              <a:t>If A asked for a two-way connection, B now repeats the same algorithm with A.</a:t>
            </a:r>
            <a:endParaRPr/>
          </a:p>
          <a:p>
            <a:pPr marL="342900" lvl="0" indent="-342900" algn="just" rtl="0">
              <a:spcBef>
                <a:spcPts val="480"/>
              </a:spcBef>
              <a:spcAft>
                <a:spcPts val="0"/>
              </a:spcAft>
              <a:buClr>
                <a:srgbClr val="7F7F7F"/>
              </a:buClr>
              <a:buSzPts val="2400"/>
              <a:buChar char="•"/>
            </a:pPr>
            <a:r>
              <a:rPr lang="en-US"/>
              <a:t>If say C tries for slot 4 of B at same time, Neither A nor C will get it, and both will notice failure by monitoring the status slot in B’s control ch.</a:t>
            </a:r>
            <a:endParaRPr/>
          </a:p>
          <a:p>
            <a:pPr marL="342900" lvl="0" indent="-342900" algn="just" rtl="0">
              <a:spcBef>
                <a:spcPts val="480"/>
              </a:spcBef>
              <a:spcAft>
                <a:spcPts val="0"/>
              </a:spcAft>
              <a:buClr>
                <a:srgbClr val="7F7F7F"/>
              </a:buClr>
              <a:buSzPts val="2400"/>
              <a:buChar char="•"/>
            </a:pPr>
            <a:r>
              <a:rPr lang="en-US"/>
              <a:t>Then each wait random amount of time and try again.</a:t>
            </a:r>
            <a:endParaRPr/>
          </a:p>
          <a:p>
            <a:pPr marL="342900" lvl="0" indent="-190500" algn="just" rtl="0">
              <a:spcBef>
                <a:spcPts val="480"/>
              </a:spcBef>
              <a:spcAft>
                <a:spcPts val="0"/>
              </a:spcAft>
              <a:buClr>
                <a:srgbClr val="7F7F7F"/>
              </a:buClr>
              <a:buSzPts val="2400"/>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IEEE 802.3 10Mbps Ethernet</a:t>
            </a:r>
            <a:endParaRPr/>
          </a:p>
        </p:txBody>
      </p:sp>
      <p:graphicFrame>
        <p:nvGraphicFramePr>
          <p:cNvPr id="404" name="Google Shape;404;p61"/>
          <p:cNvGraphicFramePr/>
          <p:nvPr/>
        </p:nvGraphicFramePr>
        <p:xfrm>
          <a:off x="251520" y="1600200"/>
          <a:ext cx="8640950" cy="2931210"/>
        </p:xfrm>
        <a:graphic>
          <a:graphicData uri="http://schemas.openxmlformats.org/drawingml/2006/table">
            <a:tbl>
              <a:tblPr firstRow="1" bandRow="1">
                <a:noFill/>
                <a:tableStyleId>{13FBB062-3F04-4866-BE6B-687C23E532FA}</a:tableStyleId>
              </a:tblPr>
              <a:tblGrid>
                <a:gridCol w="1080125">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1440150">
                  <a:extLst>
                    <a:ext uri="{9D8B030D-6E8A-4147-A177-3AD203B41FA5}">
                      <a16:colId xmlns:a16="http://schemas.microsoft.com/office/drawing/2014/main" val="20002"/>
                    </a:ext>
                  </a:extLst>
                </a:gridCol>
                <a:gridCol w="864100">
                  <a:extLst>
                    <a:ext uri="{9D8B030D-6E8A-4147-A177-3AD203B41FA5}">
                      <a16:colId xmlns:a16="http://schemas.microsoft.com/office/drawing/2014/main" val="20003"/>
                    </a:ext>
                  </a:extLst>
                </a:gridCol>
                <a:gridCol w="1440150">
                  <a:extLst>
                    <a:ext uri="{9D8B030D-6E8A-4147-A177-3AD203B41FA5}">
                      <a16:colId xmlns:a16="http://schemas.microsoft.com/office/drawing/2014/main" val="20004"/>
                    </a:ext>
                  </a:extLst>
                </a:gridCol>
                <a:gridCol w="2016225">
                  <a:extLst>
                    <a:ext uri="{9D8B030D-6E8A-4147-A177-3AD203B41FA5}">
                      <a16:colId xmlns:a16="http://schemas.microsoft.com/office/drawing/2014/main" val="20005"/>
                    </a:ext>
                  </a:extLst>
                </a:gridCol>
              </a:tblGrid>
              <a:tr h="370850">
                <a:tc>
                  <a:txBody>
                    <a:bodyPr/>
                    <a:lstStyle/>
                    <a:p>
                      <a:pPr marL="0" marR="0" lvl="0" indent="0" algn="l" rtl="0">
                        <a:spcBef>
                          <a:spcPts val="0"/>
                        </a:spcBef>
                        <a:spcAft>
                          <a:spcPts val="0"/>
                        </a:spcAft>
                        <a:buNone/>
                      </a:pPr>
                      <a:r>
                        <a:rPr lang="en-US" sz="1800" u="none" strike="noStrike" cap="none"/>
                        <a:t>Name</a:t>
                      </a:r>
                      <a:endParaRPr sz="1800"/>
                    </a:p>
                  </a:txBody>
                  <a:tcPr marL="91450" marR="91450" marT="45725" marB="45725"/>
                </a:tc>
                <a:tc>
                  <a:txBody>
                    <a:bodyPr/>
                    <a:lstStyle/>
                    <a:p>
                      <a:pPr marL="0" marR="0" lvl="0" indent="0" algn="l" rtl="0">
                        <a:spcBef>
                          <a:spcPts val="0"/>
                        </a:spcBef>
                        <a:spcAft>
                          <a:spcPts val="0"/>
                        </a:spcAft>
                        <a:buNone/>
                      </a:pPr>
                      <a:r>
                        <a:rPr lang="en-US" sz="1800"/>
                        <a:t>Cable </a:t>
                      </a:r>
                      <a:endParaRPr sz="1800"/>
                    </a:p>
                  </a:txBody>
                  <a:tcPr marL="91450" marR="91450" marT="45725" marB="45725"/>
                </a:tc>
                <a:tc>
                  <a:txBody>
                    <a:bodyPr/>
                    <a:lstStyle/>
                    <a:p>
                      <a:pPr marL="0" marR="0" lvl="0" indent="0" algn="l" rtl="0">
                        <a:spcBef>
                          <a:spcPts val="0"/>
                        </a:spcBef>
                        <a:spcAft>
                          <a:spcPts val="0"/>
                        </a:spcAft>
                        <a:buNone/>
                      </a:pPr>
                      <a:r>
                        <a:rPr lang="en-US" sz="1800"/>
                        <a:t>Max seg (m)</a:t>
                      </a:r>
                      <a:endParaRPr sz="1800"/>
                    </a:p>
                  </a:txBody>
                  <a:tcPr marL="91450" marR="91450" marT="45725" marB="45725"/>
                </a:tc>
                <a:tc>
                  <a:txBody>
                    <a:bodyPr/>
                    <a:lstStyle/>
                    <a:p>
                      <a:pPr marL="0" marR="0" lvl="0" indent="0" algn="l" rtl="0">
                        <a:spcBef>
                          <a:spcPts val="0"/>
                        </a:spcBef>
                        <a:spcAft>
                          <a:spcPts val="0"/>
                        </a:spcAft>
                        <a:buNone/>
                      </a:pPr>
                      <a:r>
                        <a:rPr lang="en-US" sz="1800"/>
                        <a:t>Nodes/seg</a:t>
                      </a:r>
                      <a:endParaRPr sz="1800"/>
                    </a:p>
                  </a:txBody>
                  <a:tcPr marL="91450" marR="91450" marT="45725" marB="45725"/>
                </a:tc>
                <a:tc>
                  <a:txBody>
                    <a:bodyPr/>
                    <a:lstStyle/>
                    <a:p>
                      <a:pPr marL="0" marR="0" lvl="0" indent="0" algn="l" rtl="0">
                        <a:spcBef>
                          <a:spcPts val="0"/>
                        </a:spcBef>
                        <a:spcAft>
                          <a:spcPts val="0"/>
                        </a:spcAft>
                        <a:buNone/>
                      </a:pPr>
                      <a:r>
                        <a:rPr lang="en-US" sz="1800"/>
                        <a:t>Diameter</a:t>
                      </a:r>
                      <a:endParaRPr sz="1800"/>
                    </a:p>
                  </a:txBody>
                  <a:tcPr marL="91450" marR="91450" marT="45725" marB="45725"/>
                </a:tc>
                <a:tc>
                  <a:txBody>
                    <a:bodyPr/>
                    <a:lstStyle/>
                    <a:p>
                      <a:pPr marL="0" marR="0" lvl="0" indent="0" algn="l" rtl="0">
                        <a:spcBef>
                          <a:spcPts val="0"/>
                        </a:spcBef>
                        <a:spcAft>
                          <a:spcPts val="0"/>
                        </a:spcAft>
                        <a:buNone/>
                      </a:pPr>
                      <a:r>
                        <a:rPr lang="en-US" sz="1800"/>
                        <a:t>Advantages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10base5</a:t>
                      </a:r>
                      <a:endParaRPr/>
                    </a:p>
                  </a:txBody>
                  <a:tcPr marL="91450" marR="91450" marT="45725" marB="45725"/>
                </a:tc>
                <a:tc>
                  <a:txBody>
                    <a:bodyPr/>
                    <a:lstStyle/>
                    <a:p>
                      <a:pPr marL="0" marR="0" lvl="0" indent="0" algn="l" rtl="0">
                        <a:spcBef>
                          <a:spcPts val="0"/>
                        </a:spcBef>
                        <a:spcAft>
                          <a:spcPts val="0"/>
                        </a:spcAft>
                        <a:buNone/>
                      </a:pPr>
                      <a:r>
                        <a:rPr lang="en-US" sz="1800"/>
                        <a:t>Thick cox (50ohm)</a:t>
                      </a:r>
                      <a:endParaRPr sz="1800"/>
                    </a:p>
                  </a:txBody>
                  <a:tcPr marL="91450" marR="91450" marT="45725" marB="45725"/>
                </a:tc>
                <a:tc>
                  <a:txBody>
                    <a:bodyPr/>
                    <a:lstStyle/>
                    <a:p>
                      <a:pPr marL="0" marR="0" lvl="0" indent="0" algn="l" rtl="0">
                        <a:spcBef>
                          <a:spcPts val="0"/>
                        </a:spcBef>
                        <a:spcAft>
                          <a:spcPts val="0"/>
                        </a:spcAft>
                        <a:buNone/>
                      </a:pPr>
                      <a:r>
                        <a:rPr lang="en-US" sz="1800"/>
                        <a:t>500</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0.4’’</a:t>
                      </a:r>
                      <a:endParaRPr sz="1800"/>
                    </a:p>
                  </a:txBody>
                  <a:tcPr marL="91450" marR="91450" marT="45725" marB="45725"/>
                </a:tc>
                <a:tc>
                  <a:txBody>
                    <a:bodyPr/>
                    <a:lstStyle/>
                    <a:p>
                      <a:pPr marL="0" marR="0" lvl="0" indent="0" algn="l" rtl="0">
                        <a:spcBef>
                          <a:spcPts val="0"/>
                        </a:spcBef>
                        <a:spcAft>
                          <a:spcPts val="0"/>
                        </a:spcAft>
                        <a:buNone/>
                      </a:pPr>
                      <a:r>
                        <a:rPr lang="en-US" sz="1800"/>
                        <a:t>Org cable, now obsolete</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10base2</a:t>
                      </a:r>
                      <a:endParaRPr sz="1800"/>
                    </a:p>
                  </a:txBody>
                  <a:tcPr marL="91450" marR="91450" marT="45725" marB="45725"/>
                </a:tc>
                <a:tc>
                  <a:txBody>
                    <a:bodyPr/>
                    <a:lstStyle/>
                    <a:p>
                      <a:pPr marL="0" marR="0" lvl="0" indent="0" algn="l" rtl="0">
                        <a:spcBef>
                          <a:spcPts val="0"/>
                        </a:spcBef>
                        <a:spcAft>
                          <a:spcPts val="0"/>
                        </a:spcAft>
                        <a:buNone/>
                      </a:pPr>
                      <a:r>
                        <a:rPr lang="en-US" sz="1800"/>
                        <a:t>Thin cox (50ohm)</a:t>
                      </a:r>
                      <a:endParaRPr sz="1800"/>
                    </a:p>
                  </a:txBody>
                  <a:tcPr marL="91450" marR="91450" marT="45725" marB="45725"/>
                </a:tc>
                <a:tc>
                  <a:txBody>
                    <a:bodyPr/>
                    <a:lstStyle/>
                    <a:p>
                      <a:pPr marL="0" marR="0" lvl="0" indent="0" algn="l" rtl="0">
                        <a:spcBef>
                          <a:spcPts val="0"/>
                        </a:spcBef>
                        <a:spcAft>
                          <a:spcPts val="0"/>
                        </a:spcAft>
                        <a:buNone/>
                      </a:pPr>
                      <a:r>
                        <a:rPr lang="en-US" sz="1800"/>
                        <a:t>185</a:t>
                      </a:r>
                      <a:endParaRPr sz="1800"/>
                    </a:p>
                  </a:txBody>
                  <a:tcPr marL="91450" marR="91450" marT="45725" marB="45725"/>
                </a:tc>
                <a:tc>
                  <a:txBody>
                    <a:bodyPr/>
                    <a:lstStyle/>
                    <a:p>
                      <a:pPr marL="0" marR="0" lvl="0" indent="0" algn="l" rtl="0">
                        <a:spcBef>
                          <a:spcPts val="0"/>
                        </a:spcBef>
                        <a:spcAft>
                          <a:spcPts val="0"/>
                        </a:spcAft>
                        <a:buNone/>
                      </a:pPr>
                      <a:r>
                        <a:rPr lang="en-US" sz="1800"/>
                        <a:t>30</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Palatino Linotype"/>
                        <a:buNone/>
                      </a:pPr>
                      <a:r>
                        <a:rPr lang="en-US" sz="1800"/>
                        <a:t>0.25’’</a:t>
                      </a:r>
                      <a:endParaRPr sz="1800"/>
                    </a:p>
                  </a:txBody>
                  <a:tcPr marL="91450" marR="91450" marT="45725" marB="45725"/>
                </a:tc>
                <a:tc>
                  <a:txBody>
                    <a:bodyPr/>
                    <a:lstStyle/>
                    <a:p>
                      <a:pPr marL="0" marR="0" lvl="0" indent="0" algn="l" rtl="0">
                        <a:spcBef>
                          <a:spcPts val="0"/>
                        </a:spcBef>
                        <a:spcAft>
                          <a:spcPts val="0"/>
                        </a:spcAft>
                        <a:buNone/>
                      </a:pPr>
                      <a:r>
                        <a:rPr lang="en-US" sz="1800"/>
                        <a:t>No hub needed</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10base-T</a:t>
                      </a:r>
                      <a:endParaRPr sz="1800"/>
                    </a:p>
                  </a:txBody>
                  <a:tcPr marL="91450" marR="91450" marT="45725" marB="45725"/>
                </a:tc>
                <a:tc>
                  <a:txBody>
                    <a:bodyPr/>
                    <a:lstStyle/>
                    <a:p>
                      <a:pPr marL="0" marR="0" lvl="0" indent="0" algn="l" rtl="0">
                        <a:spcBef>
                          <a:spcPts val="0"/>
                        </a:spcBef>
                        <a:spcAft>
                          <a:spcPts val="0"/>
                        </a:spcAft>
                        <a:buNone/>
                      </a:pPr>
                      <a:r>
                        <a:rPr lang="en-US" sz="1800"/>
                        <a:t>Twisted Pair</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1024</a:t>
                      </a:r>
                      <a:endParaRPr sz="1800"/>
                    </a:p>
                  </a:txBody>
                  <a:tcPr marL="91450" marR="91450" marT="45725" marB="45725"/>
                </a:tc>
                <a:tc>
                  <a:txBody>
                    <a:bodyPr/>
                    <a:lstStyle/>
                    <a:p>
                      <a:pPr marL="0" marR="0" lvl="0" indent="0" algn="l" rtl="0">
                        <a:spcBef>
                          <a:spcPts val="0"/>
                        </a:spcBef>
                        <a:spcAft>
                          <a:spcPts val="0"/>
                        </a:spcAft>
                        <a:buNone/>
                      </a:pPr>
                      <a:r>
                        <a:rPr lang="en-US" sz="1800"/>
                        <a:t>0.5mm</a:t>
                      </a:r>
                      <a:endParaRPr sz="1800"/>
                    </a:p>
                  </a:txBody>
                  <a:tcPr marL="91450" marR="91450" marT="45725" marB="45725"/>
                </a:tc>
                <a:tc>
                  <a:txBody>
                    <a:bodyPr/>
                    <a:lstStyle/>
                    <a:p>
                      <a:pPr marL="0" marR="0" lvl="0" indent="0" algn="l" rtl="0">
                        <a:spcBef>
                          <a:spcPts val="0"/>
                        </a:spcBef>
                        <a:spcAft>
                          <a:spcPts val="0"/>
                        </a:spcAft>
                        <a:buNone/>
                      </a:pPr>
                      <a:r>
                        <a:rPr lang="en-US" sz="1800"/>
                        <a:t>Cheapest</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10base-F</a:t>
                      </a:r>
                      <a:endParaRPr sz="1800"/>
                    </a:p>
                  </a:txBody>
                  <a:tcPr marL="91450" marR="91450" marT="45725" marB="45725"/>
                </a:tc>
                <a:tc>
                  <a:txBody>
                    <a:bodyPr/>
                    <a:lstStyle/>
                    <a:p>
                      <a:pPr marL="0" marR="0" lvl="0" indent="0" algn="l" rtl="0">
                        <a:spcBef>
                          <a:spcPts val="0"/>
                        </a:spcBef>
                        <a:spcAft>
                          <a:spcPts val="0"/>
                        </a:spcAft>
                        <a:buNone/>
                      </a:pPr>
                      <a:r>
                        <a:rPr lang="en-US" sz="1800"/>
                        <a:t>Fiber optics</a:t>
                      </a:r>
                      <a:endParaRPr sz="1800"/>
                    </a:p>
                  </a:txBody>
                  <a:tcPr marL="91450" marR="91450" marT="45725" marB="45725"/>
                </a:tc>
                <a:tc>
                  <a:txBody>
                    <a:bodyPr/>
                    <a:lstStyle/>
                    <a:p>
                      <a:pPr marL="0" marR="0" lvl="0" indent="0" algn="l" rtl="0">
                        <a:spcBef>
                          <a:spcPts val="0"/>
                        </a:spcBef>
                        <a:spcAft>
                          <a:spcPts val="0"/>
                        </a:spcAft>
                        <a:buNone/>
                      </a:pPr>
                      <a:r>
                        <a:rPr lang="en-US" sz="1800"/>
                        <a:t>2000m</a:t>
                      </a:r>
                      <a:endParaRPr sz="1800"/>
                    </a:p>
                  </a:txBody>
                  <a:tcPr marL="91450" marR="91450" marT="45725" marB="45725"/>
                </a:tc>
                <a:tc>
                  <a:txBody>
                    <a:bodyPr/>
                    <a:lstStyle/>
                    <a:p>
                      <a:pPr marL="0" marR="0" lvl="0" indent="0" algn="l" rtl="0">
                        <a:spcBef>
                          <a:spcPts val="0"/>
                        </a:spcBef>
                        <a:spcAft>
                          <a:spcPts val="0"/>
                        </a:spcAft>
                        <a:buNone/>
                      </a:pPr>
                      <a:r>
                        <a:rPr lang="en-US" sz="1800"/>
                        <a:t>1024</a:t>
                      </a:r>
                      <a:endParaRPr sz="1800"/>
                    </a:p>
                  </a:txBody>
                  <a:tcPr marL="91450" marR="91450" marT="45725" marB="45725"/>
                </a:tc>
                <a:tc>
                  <a:txBody>
                    <a:bodyPr/>
                    <a:lstStyle/>
                    <a:p>
                      <a:pPr marL="0" marR="0" lvl="0" indent="0" algn="l" rtl="0">
                        <a:spcBef>
                          <a:spcPts val="0"/>
                        </a:spcBef>
                        <a:spcAft>
                          <a:spcPts val="0"/>
                        </a:spcAft>
                        <a:buNone/>
                      </a:pPr>
                      <a:r>
                        <a:rPr lang="en-US" sz="1800"/>
                        <a:t>62.5/125 um</a:t>
                      </a:r>
                      <a:endParaRPr sz="1800"/>
                    </a:p>
                  </a:txBody>
                  <a:tcPr marL="91450" marR="91450" marT="45725" marB="45725"/>
                </a:tc>
                <a:tc>
                  <a:txBody>
                    <a:bodyPr/>
                    <a:lstStyle/>
                    <a:p>
                      <a:pPr marL="0" marR="0" lvl="0" indent="0" algn="l" rtl="0">
                        <a:spcBef>
                          <a:spcPts val="0"/>
                        </a:spcBef>
                        <a:spcAft>
                          <a:spcPts val="0"/>
                        </a:spcAft>
                        <a:buNone/>
                      </a:pPr>
                      <a:r>
                        <a:rPr lang="en-US" sz="1800"/>
                        <a:t>Best between buildings</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405" name="Google Shape;405;p61"/>
          <p:cNvSpPr txBox="1"/>
          <p:nvPr/>
        </p:nvSpPr>
        <p:spPr>
          <a:xfrm>
            <a:off x="198831" y="4581128"/>
            <a:ext cx="24096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Palatino Linotype"/>
                <a:ea typeface="Palatino Linotype"/>
                <a:cs typeface="Palatino Linotype"/>
                <a:sym typeface="Palatino Linotype"/>
              </a:rPr>
              <a:t>Manchester Encoding</a:t>
            </a:r>
            <a:endParaRPr sz="180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2"/>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802.11 Protocol Stack</a:t>
            </a:r>
            <a:endParaRPr/>
          </a:p>
        </p:txBody>
      </p:sp>
      <p:pic>
        <p:nvPicPr>
          <p:cNvPr id="411" name="Google Shape;411;p62"/>
          <p:cNvPicPr preferRelativeResize="0">
            <a:picLocks noGrp="1"/>
          </p:cNvPicPr>
          <p:nvPr>
            <p:ph idx="1"/>
          </p:nvPr>
        </p:nvPicPr>
        <p:blipFill rotWithShape="1">
          <a:blip r:embed="rId3">
            <a:alphaModFix/>
          </a:blip>
          <a:stretch/>
        </p:blipFill>
        <p:spPr>
          <a:xfrm>
            <a:off x="609600" y="2567393"/>
            <a:ext cx="6348413" cy="306782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3"/>
          <p:cNvSpPr txBox="1">
            <a:spLocks noGrp="1"/>
          </p:cNvSpPr>
          <p:nvPr>
            <p:ph idx="1"/>
          </p:nvPr>
        </p:nvSpPr>
        <p:spPr>
          <a:xfrm>
            <a:off x="457200" y="332656"/>
            <a:ext cx="8229600" cy="579350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ct val="100000"/>
              <a:buNone/>
            </a:pPr>
            <a:r>
              <a:rPr lang="en-US" sz="3000" b="1"/>
              <a:t>802.11 Infrared </a:t>
            </a:r>
            <a:endParaRPr/>
          </a:p>
          <a:p>
            <a:pPr marL="0" lvl="0" indent="0" algn="l" rtl="0">
              <a:spcBef>
                <a:spcPts val="444"/>
              </a:spcBef>
              <a:spcAft>
                <a:spcPts val="0"/>
              </a:spcAft>
              <a:buClr>
                <a:srgbClr val="7F7F7F"/>
              </a:buClr>
              <a:buSzPct val="100000"/>
              <a:buNone/>
            </a:pPr>
            <a:r>
              <a:rPr lang="en-US"/>
              <a:t> Uses IR diodes</a:t>
            </a:r>
            <a:endParaRPr/>
          </a:p>
          <a:p>
            <a:pPr marL="0" lvl="0" indent="0" algn="l" rtl="0">
              <a:spcBef>
                <a:spcPts val="444"/>
              </a:spcBef>
              <a:spcAft>
                <a:spcPts val="0"/>
              </a:spcAft>
              <a:buClr>
                <a:srgbClr val="7F7F7F"/>
              </a:buClr>
              <a:buSzPct val="100000"/>
              <a:buNone/>
            </a:pPr>
            <a:r>
              <a:rPr lang="en-US"/>
              <a:t> Diffuse light(not line of sight)</a:t>
            </a:r>
            <a:endParaRPr/>
          </a:p>
          <a:p>
            <a:pPr marL="0" lvl="0" indent="0" algn="l" rtl="0">
              <a:spcBef>
                <a:spcPts val="444"/>
              </a:spcBef>
              <a:spcAft>
                <a:spcPts val="0"/>
              </a:spcAft>
              <a:buClr>
                <a:srgbClr val="7F7F7F"/>
              </a:buClr>
              <a:buSzPct val="100000"/>
              <a:buNone/>
            </a:pPr>
            <a:r>
              <a:rPr lang="en-US"/>
              <a:t> Multiple reflections (walls, furniture etc.)</a:t>
            </a:r>
            <a:endParaRPr/>
          </a:p>
          <a:p>
            <a:pPr marL="0" lvl="0" indent="0" algn="l" rtl="0">
              <a:spcBef>
                <a:spcPts val="444"/>
              </a:spcBef>
              <a:spcAft>
                <a:spcPts val="0"/>
              </a:spcAft>
              <a:buClr>
                <a:srgbClr val="7F7F7F"/>
              </a:buClr>
              <a:buSzPct val="100000"/>
              <a:buNone/>
            </a:pPr>
            <a:r>
              <a:rPr lang="en-US"/>
              <a:t> Transmission at 0.85 microns or 0.95 microns</a:t>
            </a:r>
            <a:endParaRPr/>
          </a:p>
          <a:p>
            <a:pPr marL="0" lvl="0" indent="0" algn="l" rtl="0">
              <a:spcBef>
                <a:spcPts val="444"/>
              </a:spcBef>
              <a:spcAft>
                <a:spcPts val="0"/>
              </a:spcAft>
              <a:buClr>
                <a:srgbClr val="7F7F7F"/>
              </a:buClr>
              <a:buSzPct val="100000"/>
              <a:buNone/>
            </a:pPr>
            <a:r>
              <a:rPr lang="en-US"/>
              <a:t> Speeds : 1 Mbps and 2 Mbps</a:t>
            </a:r>
            <a:endParaRPr/>
          </a:p>
          <a:p>
            <a:pPr marL="0" lvl="0" indent="0" algn="l" rtl="0">
              <a:spcBef>
                <a:spcPts val="444"/>
              </a:spcBef>
              <a:spcAft>
                <a:spcPts val="0"/>
              </a:spcAft>
              <a:buClr>
                <a:srgbClr val="7F7F7F"/>
              </a:buClr>
              <a:buSzPct val="100000"/>
              <a:buNone/>
            </a:pPr>
            <a:endParaRPr/>
          </a:p>
          <a:p>
            <a:pPr marL="0" lvl="0" indent="0" algn="l" rtl="0">
              <a:spcBef>
                <a:spcPts val="444"/>
              </a:spcBef>
              <a:spcAft>
                <a:spcPts val="0"/>
              </a:spcAft>
              <a:buClr>
                <a:srgbClr val="7F7F7F"/>
              </a:buClr>
              <a:buSzPct val="100000"/>
              <a:buNone/>
            </a:pPr>
            <a:r>
              <a:rPr lang="en-US"/>
              <a:t>Advantages</a:t>
            </a:r>
            <a:endParaRPr/>
          </a:p>
          <a:p>
            <a:pPr marL="0" lvl="0" indent="0" algn="l" rtl="0">
              <a:spcBef>
                <a:spcPts val="444"/>
              </a:spcBef>
              <a:spcAft>
                <a:spcPts val="0"/>
              </a:spcAft>
              <a:buClr>
                <a:srgbClr val="7F7F7F"/>
              </a:buClr>
              <a:buSzPct val="100000"/>
              <a:buNone/>
            </a:pPr>
            <a:r>
              <a:rPr lang="en-US"/>
              <a:t> Simple, cheap, available in many mobile devices</a:t>
            </a:r>
            <a:endParaRPr/>
          </a:p>
          <a:p>
            <a:pPr marL="0" lvl="0" indent="0" algn="l" rtl="0">
              <a:spcBef>
                <a:spcPts val="444"/>
              </a:spcBef>
              <a:spcAft>
                <a:spcPts val="0"/>
              </a:spcAft>
              <a:buClr>
                <a:srgbClr val="7F7F7F"/>
              </a:buClr>
              <a:buSzPct val="100000"/>
              <a:buNone/>
            </a:pPr>
            <a:r>
              <a:rPr lang="en-US"/>
              <a:t> No licenses needed</a:t>
            </a:r>
            <a:endParaRPr/>
          </a:p>
          <a:p>
            <a:pPr marL="0" lvl="0" indent="0" algn="l" rtl="0">
              <a:spcBef>
                <a:spcPts val="444"/>
              </a:spcBef>
              <a:spcAft>
                <a:spcPts val="0"/>
              </a:spcAft>
              <a:buClr>
                <a:srgbClr val="7F7F7F"/>
              </a:buClr>
              <a:buSzPct val="100000"/>
              <a:buNone/>
            </a:pPr>
            <a:r>
              <a:rPr lang="en-US"/>
              <a:t> Simple shielding possible </a:t>
            </a:r>
            <a:endParaRPr/>
          </a:p>
          <a:p>
            <a:pPr marL="0" lvl="0" indent="0" algn="l" rtl="0">
              <a:spcBef>
                <a:spcPts val="444"/>
              </a:spcBef>
              <a:spcAft>
                <a:spcPts val="0"/>
              </a:spcAft>
              <a:buClr>
                <a:srgbClr val="7F7F7F"/>
              </a:buClr>
              <a:buSzPct val="100000"/>
              <a:buNone/>
            </a:pPr>
            <a:r>
              <a:rPr lang="en-US"/>
              <a:t>Disadvantages</a:t>
            </a:r>
            <a:endParaRPr/>
          </a:p>
          <a:p>
            <a:pPr marL="0" lvl="0" indent="0" algn="l" rtl="0">
              <a:spcBef>
                <a:spcPts val="444"/>
              </a:spcBef>
              <a:spcAft>
                <a:spcPts val="0"/>
              </a:spcAft>
              <a:buClr>
                <a:srgbClr val="7F7F7F"/>
              </a:buClr>
              <a:buSzPct val="100000"/>
              <a:buNone/>
            </a:pPr>
            <a:r>
              <a:rPr lang="en-US"/>
              <a:t> Interference by sunlight, heat sources etc.</a:t>
            </a:r>
            <a:endParaRPr/>
          </a:p>
          <a:p>
            <a:pPr marL="0" lvl="0" indent="0" algn="l" rtl="0">
              <a:spcBef>
                <a:spcPts val="444"/>
              </a:spcBef>
              <a:spcAft>
                <a:spcPts val="0"/>
              </a:spcAft>
              <a:buClr>
                <a:srgbClr val="7F7F7F"/>
              </a:buClr>
              <a:buSzPct val="100000"/>
              <a:buNone/>
            </a:pPr>
            <a:r>
              <a:rPr lang="en-US"/>
              <a:t> Many things shield or absorb ir light </a:t>
            </a:r>
            <a:endParaRPr/>
          </a:p>
          <a:p>
            <a:pPr marL="0" lvl="0" indent="0" algn="l" rtl="0">
              <a:spcBef>
                <a:spcPts val="444"/>
              </a:spcBef>
              <a:spcAft>
                <a:spcPts val="0"/>
              </a:spcAft>
              <a:buClr>
                <a:srgbClr val="7F7F7F"/>
              </a:buClr>
              <a:buSzPct val="100000"/>
              <a:buNone/>
            </a:pPr>
            <a:r>
              <a:rPr lang="en-US"/>
              <a:t> Low bandwidth </a:t>
            </a:r>
            <a:endParaRPr/>
          </a:p>
          <a:p>
            <a:pPr marL="0" lvl="0" indent="0" algn="l" rtl="0">
              <a:spcBef>
                <a:spcPts val="444"/>
              </a:spcBef>
              <a:spcAft>
                <a:spcPts val="0"/>
              </a:spcAft>
              <a:buClr>
                <a:srgbClr val="7F7F7F"/>
              </a:buClr>
              <a:buSzPct val="100000"/>
              <a:buNone/>
            </a:pPr>
            <a:r>
              <a:rPr lang="en-US"/>
              <a:t>Cannot penetrates the walls</a:t>
            </a:r>
            <a:endParaRPr/>
          </a:p>
          <a:p>
            <a:pPr marL="342900" lvl="0" indent="-201930" algn="l" rtl="0">
              <a:spcBef>
                <a:spcPts val="444"/>
              </a:spcBef>
              <a:spcAft>
                <a:spcPts val="0"/>
              </a:spcAft>
              <a:buClr>
                <a:srgbClr val="7F7F7F"/>
              </a:buClr>
              <a:buSzPct val="1000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4"/>
          <p:cNvSpPr txBox="1">
            <a:spLocks noGrp="1"/>
          </p:cNvSpPr>
          <p:nvPr>
            <p:ph idx="1"/>
          </p:nvPr>
        </p:nvSpPr>
        <p:spPr>
          <a:xfrm>
            <a:off x="457200" y="332656"/>
            <a:ext cx="8229600" cy="579350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2800"/>
              <a:buNone/>
            </a:pPr>
            <a:r>
              <a:rPr lang="en-US" sz="2800" b="1"/>
              <a:t>802.11</a:t>
            </a:r>
            <a:r>
              <a:rPr lang="en-US" sz="2800" b="1">
                <a:solidFill>
                  <a:srgbClr val="FF0000"/>
                </a:solidFill>
              </a:rPr>
              <a:t>a</a:t>
            </a:r>
            <a:r>
              <a:rPr lang="en-US" sz="2800" b="1"/>
              <a:t> High Speed WLAN using OFDM</a:t>
            </a:r>
            <a:endParaRPr/>
          </a:p>
          <a:p>
            <a:pPr marL="0" lvl="0" indent="0" algn="l" rtl="0">
              <a:spcBef>
                <a:spcPts val="480"/>
              </a:spcBef>
              <a:spcAft>
                <a:spcPts val="0"/>
              </a:spcAft>
              <a:buClr>
                <a:srgbClr val="7F7F7F"/>
              </a:buClr>
              <a:buSzPts val="2400"/>
              <a:buNone/>
            </a:pPr>
            <a:r>
              <a:rPr lang="en-US"/>
              <a:t>(Orthogonal Frequency Division Multiplexing) </a:t>
            </a:r>
            <a:endParaRPr/>
          </a:p>
          <a:p>
            <a:pPr marL="0" lvl="0" indent="0" algn="l" rtl="0">
              <a:spcBef>
                <a:spcPts val="480"/>
              </a:spcBef>
              <a:spcAft>
                <a:spcPts val="0"/>
              </a:spcAft>
              <a:buClr>
                <a:srgbClr val="7F7F7F"/>
              </a:buClr>
              <a:buSzPts val="2400"/>
              <a:buNone/>
            </a:pPr>
            <a:r>
              <a:rPr lang="en-US"/>
              <a:t> Operates in the 5.15GHz to 5.35GHz radio spectrum. </a:t>
            </a:r>
            <a:endParaRPr/>
          </a:p>
          <a:p>
            <a:pPr marL="0" lvl="0" indent="0" algn="l" rtl="0">
              <a:spcBef>
                <a:spcPts val="480"/>
              </a:spcBef>
              <a:spcAft>
                <a:spcPts val="0"/>
              </a:spcAft>
              <a:buClr>
                <a:srgbClr val="7F7F7F"/>
              </a:buClr>
              <a:buSzPts val="2400"/>
              <a:buNone/>
            </a:pPr>
            <a:r>
              <a:rPr lang="en-US"/>
              <a:t> Speed: Up to 54Mbps (actual throughput is closer to 22Mbps) </a:t>
            </a:r>
            <a:endParaRPr/>
          </a:p>
          <a:p>
            <a:pPr marL="0" lvl="0" indent="0" algn="l" rtl="0">
              <a:spcBef>
                <a:spcPts val="480"/>
              </a:spcBef>
              <a:spcAft>
                <a:spcPts val="0"/>
              </a:spcAft>
              <a:buClr>
                <a:srgbClr val="7F7F7F"/>
              </a:buClr>
              <a:buSzPts val="2400"/>
              <a:buNone/>
            </a:pPr>
            <a:r>
              <a:rPr lang="en-US"/>
              <a:t> Range: 50 feet </a:t>
            </a:r>
            <a:endParaRPr/>
          </a:p>
          <a:p>
            <a:pPr marL="0" lvl="0" indent="0" algn="l" rtl="0">
              <a:spcBef>
                <a:spcPts val="480"/>
              </a:spcBef>
              <a:spcAft>
                <a:spcPts val="0"/>
              </a:spcAft>
              <a:buClr>
                <a:srgbClr val="7F7F7F"/>
              </a:buClr>
              <a:buSzPts val="2400"/>
              <a:buNone/>
            </a:pPr>
            <a:r>
              <a:rPr lang="en-US"/>
              <a:t> Less prone to interference. </a:t>
            </a:r>
            <a:endParaRPr/>
          </a:p>
          <a:p>
            <a:pPr marL="0" lvl="0" indent="0" algn="l" rtl="0">
              <a:spcBef>
                <a:spcPts val="480"/>
              </a:spcBef>
              <a:spcAft>
                <a:spcPts val="0"/>
              </a:spcAft>
              <a:buClr>
                <a:srgbClr val="7F7F7F"/>
              </a:buClr>
              <a:buSzPts val="2400"/>
              <a:buNone/>
            </a:pPr>
            <a:r>
              <a:rPr lang="en-US"/>
              <a:t> More expensive. </a:t>
            </a:r>
            <a:endParaRPr/>
          </a:p>
          <a:p>
            <a:pPr marL="0" lvl="0" indent="0" algn="l" rtl="0">
              <a:spcBef>
                <a:spcPts val="480"/>
              </a:spcBef>
              <a:spcAft>
                <a:spcPts val="0"/>
              </a:spcAft>
              <a:buClr>
                <a:srgbClr val="7F7F7F"/>
              </a:buClr>
              <a:buSzPts val="2400"/>
              <a:buNone/>
            </a:pPr>
            <a:r>
              <a:rPr lang="en-US"/>
              <a:t> Because 802.11b and 802.11a use different radio technologies and portions of the spectrum, they are incompatible with one another.  </a:t>
            </a:r>
            <a:endParaRPr/>
          </a:p>
          <a:p>
            <a:pPr marL="0" lvl="0" indent="0" algn="l" rtl="0">
              <a:spcBef>
                <a:spcPts val="480"/>
              </a:spcBef>
              <a:spcAft>
                <a:spcPts val="0"/>
              </a:spcAft>
              <a:buClr>
                <a:srgbClr val="7F7F7F"/>
              </a:buClr>
              <a:buSzPts val="2400"/>
              <a:buNone/>
            </a:pPr>
            <a:r>
              <a:rPr lang="en-US"/>
              <a:t> Uses 52 frequencies : 48 for data and 4 for synchronization</a:t>
            </a:r>
            <a:endParaRPr/>
          </a:p>
          <a:p>
            <a:pPr marL="0" lvl="0" indent="0" algn="l" rtl="0">
              <a:spcBef>
                <a:spcPts val="480"/>
              </a:spcBef>
              <a:spcAft>
                <a:spcPts val="0"/>
              </a:spcAft>
              <a:buClr>
                <a:srgbClr val="7F7F7F"/>
              </a:buClr>
              <a:buSzPts val="2400"/>
              <a:buNone/>
            </a:pPr>
            <a:r>
              <a:rPr lang="en-US"/>
              <a:t> Modulation : PSK QAM </a:t>
            </a:r>
            <a:endParaRPr/>
          </a:p>
          <a:p>
            <a:pPr marL="0" lvl="0" indent="0" algn="l" rtl="0">
              <a:spcBef>
                <a:spcPts val="480"/>
              </a:spcBef>
              <a:spcAft>
                <a:spcPts val="0"/>
              </a:spcAft>
              <a:buClr>
                <a:srgbClr val="7F7F7F"/>
              </a:buClr>
              <a:buSzPts val="2400"/>
              <a:buNone/>
            </a:pPr>
            <a:endParaRPr/>
          </a:p>
          <a:p>
            <a:pPr marL="0" lvl="0" indent="0" algn="l" rtl="0">
              <a:spcBef>
                <a:spcPts val="480"/>
              </a:spcBef>
              <a:spcAft>
                <a:spcPts val="0"/>
              </a:spcAft>
              <a:buClr>
                <a:srgbClr val="7F7F7F"/>
              </a:buClr>
              <a:buSzPts val="24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5"/>
          <p:cNvSpPr txBox="1">
            <a:spLocks noGrp="1"/>
          </p:cNvSpPr>
          <p:nvPr>
            <p:ph idx="1"/>
          </p:nvPr>
        </p:nvSpPr>
        <p:spPr>
          <a:xfrm>
            <a:off x="457200" y="260648"/>
            <a:ext cx="8229600" cy="64087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3300"/>
              <a:buNone/>
            </a:pPr>
            <a:r>
              <a:rPr lang="en-US" sz="3300" b="1"/>
              <a:t>802.11</a:t>
            </a:r>
            <a:r>
              <a:rPr lang="en-US" sz="3300" b="1">
                <a:solidFill>
                  <a:srgbClr val="FF0000"/>
                </a:solidFill>
              </a:rPr>
              <a:t>b</a:t>
            </a:r>
            <a:r>
              <a:rPr lang="en-US" sz="3300" b="1"/>
              <a:t> High Rate DSSS (HR-DSSS) (Wi_Fi Year Mid 1999)</a:t>
            </a:r>
            <a:endParaRPr/>
          </a:p>
          <a:p>
            <a:pPr marL="0" lvl="0" indent="0" algn="l" rtl="0">
              <a:spcBef>
                <a:spcPts val="480"/>
              </a:spcBef>
              <a:spcAft>
                <a:spcPts val="0"/>
              </a:spcAft>
              <a:buClr>
                <a:srgbClr val="7F7F7F"/>
              </a:buClr>
              <a:buSzPts val="2400"/>
              <a:buNone/>
            </a:pPr>
            <a:r>
              <a:rPr lang="en-US"/>
              <a:t> </a:t>
            </a:r>
            <a:endParaRPr/>
          </a:p>
          <a:p>
            <a:pPr marL="0" lvl="0" indent="0" algn="l" rtl="0">
              <a:spcBef>
                <a:spcPts val="480"/>
              </a:spcBef>
              <a:spcAft>
                <a:spcPts val="0"/>
              </a:spcAft>
              <a:buClr>
                <a:srgbClr val="7F7F7F"/>
              </a:buClr>
              <a:buSzPts val="2400"/>
              <a:buNone/>
            </a:pPr>
            <a:r>
              <a:rPr lang="en-US"/>
              <a:t> Point to Multipoint Configuration</a:t>
            </a:r>
            <a:endParaRPr/>
          </a:p>
          <a:p>
            <a:pPr marL="0" lvl="0" indent="0" algn="l" rtl="0">
              <a:spcBef>
                <a:spcPts val="480"/>
              </a:spcBef>
              <a:spcAft>
                <a:spcPts val="0"/>
              </a:spcAft>
              <a:buClr>
                <a:srgbClr val="7F7F7F"/>
              </a:buClr>
              <a:buSzPts val="2400"/>
              <a:buNone/>
            </a:pPr>
            <a:r>
              <a:rPr lang="en-US"/>
              <a:t> Data rates supported are 1,2,5.5 and 11 Mbps</a:t>
            </a:r>
            <a:endParaRPr/>
          </a:p>
          <a:p>
            <a:pPr marL="0" lvl="0" indent="0" algn="l" rtl="0">
              <a:spcBef>
                <a:spcPts val="480"/>
              </a:spcBef>
              <a:spcAft>
                <a:spcPts val="0"/>
              </a:spcAft>
              <a:buClr>
                <a:srgbClr val="7F7F7F"/>
              </a:buClr>
              <a:buSzPts val="2400"/>
              <a:buNone/>
            </a:pPr>
            <a:r>
              <a:rPr lang="en-US"/>
              <a:t> 5.9 Mbps over TCP and 7.1 Mbps over UDP</a:t>
            </a:r>
            <a:endParaRPr/>
          </a:p>
          <a:p>
            <a:pPr marL="0" lvl="0" indent="0" algn="l" rtl="0">
              <a:spcBef>
                <a:spcPts val="480"/>
              </a:spcBef>
              <a:spcAft>
                <a:spcPts val="0"/>
              </a:spcAft>
              <a:buClr>
                <a:srgbClr val="7F7F7F"/>
              </a:buClr>
              <a:buSzPts val="2400"/>
              <a:buNone/>
            </a:pPr>
            <a:r>
              <a:rPr lang="en-US"/>
              <a:t> Uses CSMA/CA</a:t>
            </a:r>
            <a:endParaRPr/>
          </a:p>
          <a:p>
            <a:pPr marL="0" lvl="0" indent="0" algn="l" rtl="0">
              <a:spcBef>
                <a:spcPts val="480"/>
              </a:spcBef>
              <a:spcAft>
                <a:spcPts val="0"/>
              </a:spcAft>
              <a:buClr>
                <a:srgbClr val="7F7F7F"/>
              </a:buClr>
              <a:buSzPts val="2400"/>
              <a:buNone/>
            </a:pPr>
            <a:r>
              <a:rPr lang="en-US"/>
              <a:t> Range is 7 times grater than 802.11a</a:t>
            </a:r>
            <a:endParaRPr/>
          </a:p>
          <a:p>
            <a:pPr marL="0" lvl="0" indent="0" algn="l" rtl="0">
              <a:spcBef>
                <a:spcPts val="480"/>
              </a:spcBef>
              <a:spcAft>
                <a:spcPts val="0"/>
              </a:spcAft>
              <a:buClr>
                <a:srgbClr val="7F7F7F"/>
              </a:buClr>
              <a:buSzPts val="2400"/>
              <a:buNone/>
            </a:pPr>
            <a:r>
              <a:rPr lang="en-US"/>
              <a:t> Operates in the 2.4GHz radio spectrum.</a:t>
            </a:r>
            <a:endParaRPr/>
          </a:p>
          <a:p>
            <a:pPr marL="0" lvl="0" indent="0" algn="l" rtl="0">
              <a:spcBef>
                <a:spcPts val="480"/>
              </a:spcBef>
              <a:spcAft>
                <a:spcPts val="0"/>
              </a:spcAft>
              <a:buClr>
                <a:srgbClr val="7F7F7F"/>
              </a:buClr>
              <a:buSzPts val="2400"/>
              <a:buNone/>
            </a:pPr>
            <a:r>
              <a:rPr lang="en-US"/>
              <a:t> Frequency Bandwidth = 5 GHz</a:t>
            </a:r>
            <a:endParaRPr/>
          </a:p>
          <a:p>
            <a:pPr marL="0" lvl="0" indent="0" algn="l" rtl="0">
              <a:spcBef>
                <a:spcPts val="480"/>
              </a:spcBef>
              <a:spcAft>
                <a:spcPts val="0"/>
              </a:spcAft>
              <a:buClr>
                <a:srgbClr val="7F7F7F"/>
              </a:buClr>
              <a:buSzPts val="2400"/>
              <a:buNone/>
            </a:pPr>
            <a:r>
              <a:rPr lang="en-US"/>
              <a:t> Range: 100 feet</a:t>
            </a:r>
            <a:endParaRPr/>
          </a:p>
          <a:p>
            <a:pPr marL="0" lvl="0" indent="0" algn="l" rtl="0">
              <a:spcBef>
                <a:spcPts val="480"/>
              </a:spcBef>
              <a:spcAft>
                <a:spcPts val="0"/>
              </a:spcAft>
              <a:buClr>
                <a:srgbClr val="7F7F7F"/>
              </a:buClr>
              <a:buSzPts val="2400"/>
              <a:buNone/>
            </a:pPr>
            <a:r>
              <a:rPr lang="en-US"/>
              <a:t> Prone to interference </a:t>
            </a:r>
            <a:endParaRPr/>
          </a:p>
          <a:p>
            <a:pPr marL="0" lvl="0" indent="0" algn="l" rtl="0">
              <a:spcBef>
                <a:spcPts val="480"/>
              </a:spcBef>
              <a:spcAft>
                <a:spcPts val="0"/>
              </a:spcAft>
              <a:buClr>
                <a:srgbClr val="7F7F7F"/>
              </a:buClr>
              <a:buSzPts val="2400"/>
              <a:buNone/>
            </a:pPr>
            <a:r>
              <a:rPr lang="en-US"/>
              <a:t> Least expensive wireless LAN specification.</a:t>
            </a:r>
            <a:endParaRPr/>
          </a:p>
          <a:p>
            <a:pPr marL="0" lvl="0" indent="0" algn="l" rtl="0">
              <a:spcBef>
                <a:spcPts val="480"/>
              </a:spcBef>
              <a:spcAft>
                <a:spcPts val="0"/>
              </a:spcAft>
              <a:buClr>
                <a:srgbClr val="7F7F7F"/>
              </a:buClr>
              <a:buSzPts val="240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6"/>
          <p:cNvSpPr txBox="1">
            <a:spLocks noGrp="1"/>
          </p:cNvSpPr>
          <p:nvPr>
            <p:ph idx="1"/>
          </p:nvPr>
        </p:nvSpPr>
        <p:spPr>
          <a:xfrm>
            <a:off x="457200" y="332656"/>
            <a:ext cx="8229600" cy="579350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F7F7F"/>
              </a:buClr>
              <a:buSzPts val="3200"/>
              <a:buNone/>
            </a:pPr>
            <a:r>
              <a:rPr lang="en-US" sz="3200" b="1"/>
              <a:t>802.11</a:t>
            </a:r>
            <a:r>
              <a:rPr lang="en-US" sz="3200" b="1">
                <a:solidFill>
                  <a:srgbClr val="FF0000"/>
                </a:solidFill>
              </a:rPr>
              <a:t>g</a:t>
            </a:r>
            <a:r>
              <a:rPr lang="en-US" sz="3200" b="1"/>
              <a:t> OFDM 54 MBps </a:t>
            </a:r>
            <a:endParaRPr/>
          </a:p>
          <a:p>
            <a:pPr marL="0" lvl="0" indent="0" algn="l" rtl="0">
              <a:spcBef>
                <a:spcPts val="480"/>
              </a:spcBef>
              <a:spcAft>
                <a:spcPts val="0"/>
              </a:spcAft>
              <a:buClr>
                <a:srgbClr val="7F7F7F"/>
              </a:buClr>
              <a:buSzPts val="2400"/>
              <a:buNone/>
            </a:pPr>
            <a:r>
              <a:rPr lang="en-US"/>
              <a:t>o Operates in the 2.4GHz radio spectrum. </a:t>
            </a:r>
            <a:endParaRPr/>
          </a:p>
          <a:p>
            <a:pPr marL="0" lvl="0" indent="0" algn="l" rtl="0">
              <a:spcBef>
                <a:spcPts val="480"/>
              </a:spcBef>
              <a:spcAft>
                <a:spcPts val="0"/>
              </a:spcAft>
              <a:buClr>
                <a:srgbClr val="7F7F7F"/>
              </a:buClr>
              <a:buSzPts val="2400"/>
              <a:buNone/>
            </a:pPr>
            <a:r>
              <a:rPr lang="en-US"/>
              <a:t>o Speed: Up to 54Mbps </a:t>
            </a:r>
            <a:endParaRPr/>
          </a:p>
          <a:p>
            <a:pPr marL="0" lvl="0" indent="0" algn="l" rtl="0">
              <a:spcBef>
                <a:spcPts val="480"/>
              </a:spcBef>
              <a:spcAft>
                <a:spcPts val="0"/>
              </a:spcAft>
              <a:buClr>
                <a:srgbClr val="7F7F7F"/>
              </a:buClr>
              <a:buSzPts val="2400"/>
              <a:buNone/>
            </a:pPr>
            <a:r>
              <a:rPr lang="en-US"/>
              <a:t>o Range: 100 feet </a:t>
            </a:r>
            <a:endParaRPr/>
          </a:p>
          <a:p>
            <a:pPr marL="0" lvl="0" indent="0" algn="l" rtl="0">
              <a:spcBef>
                <a:spcPts val="480"/>
              </a:spcBef>
              <a:spcAft>
                <a:spcPts val="0"/>
              </a:spcAft>
              <a:buClr>
                <a:srgbClr val="7F7F7F"/>
              </a:buClr>
              <a:buSzPts val="2400"/>
              <a:buNone/>
            </a:pPr>
            <a:r>
              <a:rPr lang="en-US"/>
              <a:t>o Prone to interference (it shares airspace with cell phones, Bluetooth, security radios, and other devices)</a:t>
            </a:r>
            <a:endParaRPr/>
          </a:p>
          <a:p>
            <a:pPr marL="0" lvl="0" indent="0" algn="l" rtl="0">
              <a:spcBef>
                <a:spcPts val="480"/>
              </a:spcBef>
              <a:spcAft>
                <a:spcPts val="0"/>
              </a:spcAft>
              <a:buClr>
                <a:srgbClr val="7F7F7F"/>
              </a:buClr>
              <a:buSzPts val="2400"/>
              <a:buNone/>
            </a:pPr>
            <a:endParaRPr/>
          </a:p>
          <a:p>
            <a:pPr marL="0" lvl="0" indent="0" algn="l" rtl="0">
              <a:spcBef>
                <a:spcPts val="600"/>
              </a:spcBef>
              <a:spcAft>
                <a:spcPts val="0"/>
              </a:spcAft>
              <a:buClr>
                <a:srgbClr val="7F7F7F"/>
              </a:buClr>
              <a:buSzPts val="3000"/>
              <a:buNone/>
            </a:pPr>
            <a:r>
              <a:rPr lang="en-US" sz="3000" b="1"/>
              <a:t>802.11</a:t>
            </a:r>
            <a:r>
              <a:rPr lang="en-US" sz="3000" b="1">
                <a:solidFill>
                  <a:srgbClr val="FF0000"/>
                </a:solidFill>
              </a:rPr>
              <a:t>n</a:t>
            </a:r>
            <a:r>
              <a:rPr lang="en-US"/>
              <a:t> :</a:t>
            </a:r>
            <a:endParaRPr/>
          </a:p>
          <a:p>
            <a:pPr marL="0" lvl="0" indent="0" algn="l" rtl="0">
              <a:spcBef>
                <a:spcPts val="480"/>
              </a:spcBef>
              <a:spcAft>
                <a:spcPts val="0"/>
              </a:spcAft>
              <a:buClr>
                <a:srgbClr val="7F7F7F"/>
              </a:buClr>
              <a:buSzPts val="2400"/>
              <a:buNone/>
            </a:pPr>
            <a:r>
              <a:rPr lang="en-US"/>
              <a:t>o Operates in the 2.4 or 5GHz radio spectrum </a:t>
            </a:r>
            <a:endParaRPr/>
          </a:p>
          <a:p>
            <a:pPr marL="0" lvl="0" indent="0" algn="l" rtl="0">
              <a:spcBef>
                <a:spcPts val="480"/>
              </a:spcBef>
              <a:spcAft>
                <a:spcPts val="0"/>
              </a:spcAft>
              <a:buClr>
                <a:srgbClr val="7F7F7F"/>
              </a:buClr>
              <a:buSzPts val="2400"/>
              <a:buNone/>
            </a:pPr>
            <a:r>
              <a:rPr lang="en-US"/>
              <a:t>o Speed: Up to 700Mbs </a:t>
            </a:r>
            <a:endParaRPr/>
          </a:p>
          <a:p>
            <a:pPr marL="0" lvl="0" indent="0" algn="l" rtl="0">
              <a:spcBef>
                <a:spcPts val="480"/>
              </a:spcBef>
              <a:spcAft>
                <a:spcPts val="0"/>
              </a:spcAft>
              <a:buClr>
                <a:srgbClr val="7F7F7F"/>
              </a:buClr>
              <a:buSzPts val="2400"/>
              <a:buNone/>
            </a:pPr>
            <a:r>
              <a:rPr lang="en-US"/>
              <a:t>o Range: 50 feet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7"/>
          <p:cNvSpPr txBox="1">
            <a:spLocks noGrp="1"/>
          </p:cNvSpPr>
          <p:nvPr>
            <p:ph type="title"/>
          </p:nvPr>
        </p:nvSpPr>
        <p:spPr>
          <a:xfrm>
            <a:off x="457200" y="0"/>
            <a:ext cx="8229600" cy="980728"/>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Bluetooth Architecture</a:t>
            </a:r>
            <a:endParaRPr/>
          </a:p>
        </p:txBody>
      </p:sp>
      <p:sp>
        <p:nvSpPr>
          <p:cNvPr id="437" name="Google Shape;437;p67"/>
          <p:cNvSpPr txBox="1">
            <a:spLocks noGrp="1"/>
          </p:cNvSpPr>
          <p:nvPr>
            <p:ph idx="1"/>
          </p:nvPr>
        </p:nvSpPr>
        <p:spPr>
          <a:xfrm>
            <a:off x="457200" y="908720"/>
            <a:ext cx="8229600" cy="561662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ct val="100000"/>
              <a:buChar char="•"/>
            </a:pPr>
            <a:r>
              <a:rPr lang="en-US"/>
              <a:t>Basic unit is </a:t>
            </a:r>
            <a:r>
              <a:rPr lang="en-US" b="1"/>
              <a:t>piconet </a:t>
            </a:r>
            <a:endParaRPr/>
          </a:p>
          <a:p>
            <a:pPr marL="342900" lvl="0" indent="-342900" algn="l" rtl="0">
              <a:spcBef>
                <a:spcPts val="444"/>
              </a:spcBef>
              <a:spcAft>
                <a:spcPts val="0"/>
              </a:spcAft>
              <a:buClr>
                <a:srgbClr val="7F7F7F"/>
              </a:buClr>
              <a:buSzPct val="100000"/>
              <a:buChar char="•"/>
            </a:pPr>
            <a:r>
              <a:rPr lang="en-US"/>
              <a:t>Piconet consists one master node and 7 active slave nodes</a:t>
            </a:r>
            <a:endParaRPr/>
          </a:p>
          <a:p>
            <a:pPr marL="342900" lvl="0" indent="-342900" algn="l" rtl="0">
              <a:spcBef>
                <a:spcPts val="444"/>
              </a:spcBef>
              <a:spcAft>
                <a:spcPts val="0"/>
              </a:spcAft>
              <a:buClr>
                <a:srgbClr val="7F7F7F"/>
              </a:buClr>
              <a:buSzPct val="100000"/>
              <a:buChar char="•"/>
            </a:pPr>
            <a:r>
              <a:rPr lang="en-US"/>
              <a:t>Perimeter is 10 meters</a:t>
            </a:r>
            <a:endParaRPr/>
          </a:p>
          <a:p>
            <a:pPr marL="342900" lvl="0" indent="-342900" algn="l" rtl="0">
              <a:spcBef>
                <a:spcPts val="444"/>
              </a:spcBef>
              <a:spcAft>
                <a:spcPts val="0"/>
              </a:spcAft>
              <a:buClr>
                <a:srgbClr val="7F7F7F"/>
              </a:buClr>
              <a:buSzPct val="100000"/>
              <a:buChar char="•"/>
            </a:pPr>
            <a:r>
              <a:rPr lang="en-US"/>
              <a:t>Multiple piconets can be formed via bridge node</a:t>
            </a:r>
            <a:endParaRPr/>
          </a:p>
          <a:p>
            <a:pPr marL="342900" lvl="0" indent="-342900" algn="l" rtl="0">
              <a:spcBef>
                <a:spcPts val="444"/>
              </a:spcBef>
              <a:spcAft>
                <a:spcPts val="0"/>
              </a:spcAft>
              <a:buClr>
                <a:srgbClr val="7F7F7F"/>
              </a:buClr>
              <a:buSzPct val="100000"/>
              <a:buChar char="•"/>
            </a:pPr>
            <a:r>
              <a:rPr lang="en-US"/>
              <a:t>Interconnected piconets are called </a:t>
            </a:r>
            <a:r>
              <a:rPr lang="en-US" b="1"/>
              <a:t>scatternet</a:t>
            </a:r>
            <a:endParaRPr b="1"/>
          </a:p>
          <a:p>
            <a:pPr marL="342900" lvl="0" indent="-342900" algn="l" rtl="0">
              <a:spcBef>
                <a:spcPts val="444"/>
              </a:spcBef>
              <a:spcAft>
                <a:spcPts val="0"/>
              </a:spcAft>
              <a:buClr>
                <a:srgbClr val="7F7F7F"/>
              </a:buClr>
              <a:buSzPct val="100000"/>
              <a:buChar char="•"/>
            </a:pPr>
            <a:r>
              <a:rPr lang="en-US"/>
              <a:t>Parked slave for responding to the activation/becon from the master.</a:t>
            </a:r>
            <a:endParaRPr/>
          </a:p>
          <a:p>
            <a:pPr marL="342900" lvl="0" indent="-342900" algn="l" rtl="0">
              <a:spcBef>
                <a:spcPts val="444"/>
              </a:spcBef>
              <a:spcAft>
                <a:spcPts val="0"/>
              </a:spcAft>
              <a:buClr>
                <a:srgbClr val="7F7F7F"/>
              </a:buClr>
              <a:buSzPct val="100000"/>
              <a:buChar char="•"/>
            </a:pPr>
            <a:r>
              <a:rPr lang="en-US"/>
              <a:t>There can be 255 parked nodes</a:t>
            </a:r>
            <a:endParaRPr/>
          </a:p>
          <a:p>
            <a:pPr marL="342900" lvl="0" indent="-342900" algn="l" rtl="0">
              <a:spcBef>
                <a:spcPts val="444"/>
              </a:spcBef>
              <a:spcAft>
                <a:spcPts val="0"/>
              </a:spcAft>
              <a:buClr>
                <a:srgbClr val="7F7F7F"/>
              </a:buClr>
              <a:buSzPct val="100000"/>
              <a:buChar char="•"/>
            </a:pPr>
            <a:r>
              <a:rPr lang="en-US"/>
              <a:t>Uses TDM</a:t>
            </a:r>
            <a:endParaRPr/>
          </a:p>
          <a:p>
            <a:pPr marL="342900" lvl="0" indent="-342900" algn="l" rtl="0">
              <a:spcBef>
                <a:spcPts val="444"/>
              </a:spcBef>
              <a:spcAft>
                <a:spcPts val="0"/>
              </a:spcAft>
              <a:buClr>
                <a:srgbClr val="7F7F7F"/>
              </a:buClr>
              <a:buSzPct val="100000"/>
              <a:buChar char="•"/>
            </a:pPr>
            <a:r>
              <a:rPr lang="en-US"/>
              <a:t>Communication between master slave only and not slave to slave</a:t>
            </a:r>
            <a:endParaRPr/>
          </a:p>
          <a:p>
            <a:pPr marL="342900" lvl="0" indent="-342900" algn="l" rtl="0">
              <a:spcBef>
                <a:spcPts val="444"/>
              </a:spcBef>
              <a:spcAft>
                <a:spcPts val="0"/>
              </a:spcAft>
              <a:buClr>
                <a:srgbClr val="7F7F7F"/>
              </a:buClr>
              <a:buSzPct val="100000"/>
              <a:buChar char="•"/>
            </a:pPr>
            <a:r>
              <a:rPr lang="en-US"/>
              <a:t>2.4 GHz, FHSS, CDMA</a:t>
            </a:r>
            <a:endParaRPr/>
          </a:p>
          <a:p>
            <a:pPr marL="342900" lvl="0" indent="-342900" algn="l" rtl="0">
              <a:spcBef>
                <a:spcPts val="444"/>
              </a:spcBef>
              <a:spcAft>
                <a:spcPts val="0"/>
              </a:spcAft>
              <a:buClr>
                <a:srgbClr val="7F7F7F"/>
              </a:buClr>
              <a:buSzPct val="100000"/>
              <a:buChar char="•"/>
            </a:pPr>
            <a:r>
              <a:rPr lang="en-US"/>
              <a:t>79 channels of 1 MHz each</a:t>
            </a:r>
            <a:endParaRPr/>
          </a:p>
          <a:p>
            <a:pPr marL="342900" lvl="0" indent="-342900" algn="l" rtl="0">
              <a:spcBef>
                <a:spcPts val="444"/>
              </a:spcBef>
              <a:spcAft>
                <a:spcPts val="0"/>
              </a:spcAft>
              <a:buClr>
                <a:srgbClr val="7F7F7F"/>
              </a:buClr>
              <a:buSzPct val="100000"/>
              <a:buChar char="•"/>
            </a:pPr>
            <a:r>
              <a:rPr lang="en-US"/>
              <a:t>Modulation FSK, 1-bit per Hz gives 1 Mbps data rate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pic>
        <p:nvPicPr>
          <p:cNvPr id="443" name="Google Shape;443;p68"/>
          <p:cNvPicPr preferRelativeResize="0">
            <a:picLocks noGrp="1"/>
          </p:cNvPicPr>
          <p:nvPr>
            <p:ph idx="1"/>
          </p:nvPr>
        </p:nvPicPr>
        <p:blipFill rotWithShape="1">
          <a:blip r:embed="rId3">
            <a:alphaModFix/>
          </a:blip>
          <a:stretch/>
        </p:blipFill>
        <p:spPr>
          <a:xfrm>
            <a:off x="1932115" y="3161676"/>
            <a:ext cx="3703382" cy="187926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69"/>
          <p:cNvSpPr txBox="1">
            <a:spLocks noGrp="1"/>
          </p:cNvSpPr>
          <p:nvPr>
            <p:ph type="title"/>
          </p:nvPr>
        </p:nvSpPr>
        <p:spPr>
          <a:xfrm>
            <a:off x="457200" y="0"/>
            <a:ext cx="8229600" cy="980728"/>
          </a:xfrm>
          <a:prstGeom prst="rect">
            <a:avLst/>
          </a:prstGeom>
          <a:noFill/>
          <a:ln>
            <a:noFill/>
          </a:ln>
        </p:spPr>
        <p:txBody>
          <a:bodyPr spcFirstLastPara="1" wrap="square" lIns="91425" tIns="45700" rIns="91425" bIns="45700" anchor="b" anchorCtr="0">
            <a:noAutofit/>
          </a:bodyPr>
          <a:lstStyle/>
          <a:p>
            <a:pPr marL="0" lvl="0" indent="0" algn="ctr" rtl="0">
              <a:lnSpc>
                <a:spcPct val="107407"/>
              </a:lnSpc>
              <a:spcBef>
                <a:spcPts val="0"/>
              </a:spcBef>
              <a:spcAft>
                <a:spcPts val="0"/>
              </a:spcAft>
              <a:buClr>
                <a:schemeClr val="dk2"/>
              </a:buClr>
              <a:buSzPts val="5400"/>
              <a:buFont typeface="Palatino Linotype"/>
              <a:buNone/>
            </a:pPr>
            <a:r>
              <a:rPr lang="en-US"/>
              <a:t>Frame Format</a:t>
            </a:r>
            <a:endParaRPr/>
          </a:p>
        </p:txBody>
      </p:sp>
      <p:sp>
        <p:nvSpPr>
          <p:cNvPr id="449" name="Google Shape;449;p69"/>
          <p:cNvSpPr txBox="1">
            <a:spLocks noGrp="1"/>
          </p:cNvSpPr>
          <p:nvPr>
            <p:ph idx="1"/>
          </p:nvPr>
        </p:nvSpPr>
        <p:spPr>
          <a:xfrm>
            <a:off x="457200" y="1600200"/>
            <a:ext cx="8229600" cy="4925144"/>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190500" algn="l" rtl="0">
              <a:spcBef>
                <a:spcPts val="480"/>
              </a:spcBef>
              <a:spcAft>
                <a:spcPts val="0"/>
              </a:spcAft>
              <a:buClr>
                <a:srgbClr val="7F7F7F"/>
              </a:buClr>
              <a:buSzPts val="2400"/>
              <a:buNone/>
            </a:pPr>
            <a:endParaRPr/>
          </a:p>
          <a:p>
            <a:pPr marL="342900" lvl="0" indent="-342900" algn="l" rtl="0">
              <a:spcBef>
                <a:spcPts val="480"/>
              </a:spcBef>
              <a:spcAft>
                <a:spcPts val="0"/>
              </a:spcAft>
              <a:buClr>
                <a:srgbClr val="7F7F7F"/>
              </a:buClr>
              <a:buSzPts val="2400"/>
              <a:buChar char="•"/>
            </a:pPr>
            <a:r>
              <a:rPr lang="en-US"/>
              <a:t>An  access code  identifies the master so that slaves within radio range of two masters can tell which traffic is for them. </a:t>
            </a:r>
            <a:endParaRPr/>
          </a:p>
          <a:p>
            <a:pPr marL="342900" lvl="0" indent="-342900" algn="l" rtl="0">
              <a:spcBef>
                <a:spcPts val="480"/>
              </a:spcBef>
              <a:spcAft>
                <a:spcPts val="0"/>
              </a:spcAft>
              <a:buClr>
                <a:srgbClr val="7F7F7F"/>
              </a:buClr>
              <a:buSzPts val="2400"/>
              <a:buChar char="•"/>
            </a:pPr>
            <a:r>
              <a:rPr lang="en-US"/>
              <a:t>Next comes a 54-bit header containing typical MAC sublayer fields. Then comes the data field, of up to 2744 bits</a:t>
            </a:r>
            <a:endParaRPr/>
          </a:p>
          <a:p>
            <a:pPr marL="342900" lvl="0" indent="-342900" algn="l" rtl="0">
              <a:spcBef>
                <a:spcPts val="480"/>
              </a:spcBef>
              <a:spcAft>
                <a:spcPts val="0"/>
              </a:spcAft>
              <a:buClr>
                <a:srgbClr val="7F7F7F"/>
              </a:buClr>
              <a:buSzPts val="2400"/>
              <a:buChar char="•"/>
            </a:pPr>
            <a:r>
              <a:rPr lang="en-US"/>
              <a:t>The Address field identifies which of the eight active devices the frame is intended for. </a:t>
            </a:r>
            <a:endParaRPr/>
          </a:p>
          <a:p>
            <a:pPr marL="342900" lvl="0" indent="-190500" algn="l" rtl="0">
              <a:spcBef>
                <a:spcPts val="480"/>
              </a:spcBef>
              <a:spcAft>
                <a:spcPts val="0"/>
              </a:spcAft>
              <a:buClr>
                <a:srgbClr val="7F7F7F"/>
              </a:buClr>
              <a:buSzPts val="2400"/>
              <a:buNone/>
            </a:pPr>
            <a:endParaRPr/>
          </a:p>
        </p:txBody>
      </p:sp>
      <p:pic>
        <p:nvPicPr>
          <p:cNvPr id="450" name="Google Shape;450;p69"/>
          <p:cNvPicPr preferRelativeResize="0"/>
          <p:nvPr/>
        </p:nvPicPr>
        <p:blipFill rotWithShape="1">
          <a:blip r:embed="rId3">
            <a:alphaModFix/>
          </a:blip>
          <a:srcRect/>
          <a:stretch/>
        </p:blipFill>
        <p:spPr>
          <a:xfrm>
            <a:off x="611560" y="1006004"/>
            <a:ext cx="7906505" cy="196505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70"/>
          <p:cNvSpPr txBox="1">
            <a:spLocks noGrp="1"/>
          </p:cNvSpPr>
          <p:nvPr>
            <p:ph idx="1"/>
          </p:nvPr>
        </p:nvSpPr>
        <p:spPr>
          <a:xfrm>
            <a:off x="457200" y="836712"/>
            <a:ext cx="8229600" cy="528945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7F7F7F"/>
              </a:buClr>
              <a:buSzPts val="2400"/>
              <a:buChar char="•"/>
            </a:pPr>
            <a:r>
              <a:rPr lang="en-US"/>
              <a:t>The Type field identifies the frame type</a:t>
            </a:r>
            <a:endParaRPr/>
          </a:p>
          <a:p>
            <a:pPr marL="342900" lvl="0" indent="-342900" algn="l" rtl="0">
              <a:spcBef>
                <a:spcPts val="480"/>
              </a:spcBef>
              <a:spcAft>
                <a:spcPts val="0"/>
              </a:spcAft>
              <a:buClr>
                <a:srgbClr val="7F7F7F"/>
              </a:buClr>
              <a:buSzPts val="2400"/>
              <a:buChar char="•"/>
            </a:pPr>
            <a:r>
              <a:rPr lang="en-US"/>
              <a:t>The Flow bit is asserted by a slave when its buffer is full and cannot receive any more data. This is a primitive form of flow control.</a:t>
            </a:r>
            <a:endParaRPr/>
          </a:p>
          <a:p>
            <a:pPr marL="342900" lvl="0" indent="-342900" algn="l" rtl="0">
              <a:spcBef>
                <a:spcPts val="480"/>
              </a:spcBef>
              <a:spcAft>
                <a:spcPts val="0"/>
              </a:spcAft>
              <a:buClr>
                <a:srgbClr val="7F7F7F"/>
              </a:buClr>
              <a:buSzPts val="2400"/>
              <a:buChar char="•"/>
            </a:pPr>
            <a:r>
              <a:rPr lang="en-US"/>
              <a:t>The Acknowledgement bit is used to piggyback an ACK onto a frame.</a:t>
            </a:r>
            <a:endParaRPr/>
          </a:p>
          <a:p>
            <a:pPr marL="342900" lvl="0" indent="-342900" algn="l" rtl="0">
              <a:spcBef>
                <a:spcPts val="480"/>
              </a:spcBef>
              <a:spcAft>
                <a:spcPts val="0"/>
              </a:spcAft>
              <a:buClr>
                <a:srgbClr val="7F7F7F"/>
              </a:buClr>
              <a:buSzPts val="2400"/>
              <a:buChar char="•"/>
            </a:pPr>
            <a:r>
              <a:rPr lang="en-US"/>
              <a:t>The Sequence bit is used to number the frames to detect retransmissions. The protocol is stop-and-wait, so 1 bit is enough.</a:t>
            </a:r>
            <a:endParaRPr/>
          </a:p>
          <a:p>
            <a:pPr marL="342900" lvl="0" indent="-342900" algn="l" rtl="0">
              <a:spcBef>
                <a:spcPts val="480"/>
              </a:spcBef>
              <a:spcAft>
                <a:spcPts val="0"/>
              </a:spcAft>
              <a:buClr>
                <a:srgbClr val="7F7F7F"/>
              </a:buClr>
              <a:buSzPts val="2400"/>
              <a:buChar char="•"/>
            </a:pPr>
            <a:r>
              <a:rPr lang="en-US"/>
              <a:t>Then comes the 8-bit header Checksum. The entire 18-bit header is repeated three times to form the 54-bit header.</a:t>
            </a:r>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10263</TotalTime>
  <Words>3731</Words>
  <Application>Microsoft Office PowerPoint</Application>
  <PresentationFormat>On-screen Show (4:3)</PresentationFormat>
  <Paragraphs>368</Paragraphs>
  <Slides>58</Slides>
  <Notes>58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Wingdings 3</vt:lpstr>
      <vt:lpstr>Calibri</vt:lpstr>
      <vt:lpstr>Trebuchet MS</vt:lpstr>
      <vt:lpstr>Noto Sans Symbols</vt:lpstr>
      <vt:lpstr>Palatino Linotype</vt:lpstr>
      <vt:lpstr>Arial</vt:lpstr>
      <vt:lpstr>Facet</vt:lpstr>
      <vt:lpstr>Medium Access Control</vt:lpstr>
      <vt:lpstr>PowerPoint Presentation</vt:lpstr>
      <vt:lpstr>Channel Allocation Problem</vt:lpstr>
      <vt:lpstr>PowerPoint Presentation</vt:lpstr>
      <vt:lpstr>Dynamic Ch Allocation</vt:lpstr>
      <vt:lpstr>PowerPoint Presentation</vt:lpstr>
      <vt:lpstr>Multiple Access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CSMA with Collision Detection</vt:lpstr>
      <vt:lpstr>PowerPoint Presentation</vt:lpstr>
      <vt:lpstr>PowerPoint Presentation</vt:lpstr>
      <vt:lpstr>CSMA/CD with Binary Exponential Backoff</vt:lpstr>
      <vt:lpstr>Collision Free Protocol</vt:lpstr>
      <vt:lpstr>    A Bit-Map Protocol</vt:lpstr>
      <vt:lpstr>    Token Ring</vt:lpstr>
      <vt:lpstr>Binary Countdown Protocol</vt:lpstr>
      <vt:lpstr>PowerPoint Presentation</vt:lpstr>
      <vt:lpstr>Classic Ethernet MAC Sublayer Protocol</vt:lpstr>
      <vt:lpstr>PowerPoint Presentation</vt:lpstr>
      <vt:lpstr>PowerPoint Presentation</vt:lpstr>
      <vt:lpstr>Wireless LAN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802.11 architecture</vt:lpstr>
      <vt:lpstr>PowerPoint Presentation</vt:lpstr>
      <vt:lpstr>PowerPoint Presentation</vt:lpstr>
      <vt:lpstr>PowerPoint Presentation</vt:lpstr>
      <vt:lpstr>PowerPoint Presentation</vt:lpstr>
      <vt:lpstr>PowerPoint Presentation</vt:lpstr>
      <vt:lpstr>Wavelength Division Multiple Access</vt:lpstr>
      <vt:lpstr>PowerPoint Presentation</vt:lpstr>
      <vt:lpstr>PowerPoint Presentation</vt:lpstr>
      <vt:lpstr>PowerPoint Presentation</vt:lpstr>
      <vt:lpstr>IEEE 802.3 10Mbps Ethernet</vt:lpstr>
      <vt:lpstr>802.11 Protocol Stack</vt:lpstr>
      <vt:lpstr>PowerPoint Presentation</vt:lpstr>
      <vt:lpstr>PowerPoint Presentation</vt:lpstr>
      <vt:lpstr>PowerPoint Presentation</vt:lpstr>
      <vt:lpstr>PowerPoint Presentation</vt:lpstr>
      <vt:lpstr>Bluetooth Architecture</vt:lpstr>
      <vt:lpstr>PowerPoint Presentation</vt:lpstr>
      <vt:lpstr>Frame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Medium Access Control</dc:title>
  <dc:creator>Ranjana Jadhav</dc:creator>
  <cp:lastModifiedBy>Ranjana Jadhav</cp:lastModifiedBy>
  <cp:revision>12</cp:revision>
  <dcterms:modified xsi:type="dcterms:W3CDTF">2025-03-05T05:36:19Z</dcterms:modified>
</cp:coreProperties>
</file>